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0"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9B2099E-5665-4678-A1B7-E6C7F4143E8B}"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93D48A-EB6B-4BEC-9303-77F62A7B2C8F}" type="slidenum">
              <a:rPr lang="en-US" smtClean="0"/>
              <a:t>‹#›</a:t>
            </a:fld>
            <a:endParaRPr lang="en-US"/>
          </a:p>
        </p:txBody>
      </p:sp>
    </p:spTree>
    <p:extLst>
      <p:ext uri="{BB962C8B-B14F-4D97-AF65-F5344CB8AC3E}">
        <p14:creationId xmlns:p14="http://schemas.microsoft.com/office/powerpoint/2010/main" val="1871043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C9B2099E-5665-4678-A1B7-E6C7F4143E8B}"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93D48A-EB6B-4BEC-9303-77F62A7B2C8F}" type="slidenum">
              <a:rPr lang="en-US" smtClean="0"/>
              <a:t>‹#›</a:t>
            </a:fld>
            <a:endParaRPr lang="en-US"/>
          </a:p>
        </p:txBody>
      </p:sp>
    </p:spTree>
    <p:extLst>
      <p:ext uri="{BB962C8B-B14F-4D97-AF65-F5344CB8AC3E}">
        <p14:creationId xmlns:p14="http://schemas.microsoft.com/office/powerpoint/2010/main" val="3283179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B2099E-5665-4678-A1B7-E6C7F4143E8B}"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93D48A-EB6B-4BEC-9303-77F62A7B2C8F}" type="slidenum">
              <a:rPr lang="en-US" smtClean="0"/>
              <a:t>‹#›</a:t>
            </a:fld>
            <a:endParaRPr lang="en-US"/>
          </a:p>
        </p:txBody>
      </p:sp>
    </p:spTree>
    <p:extLst>
      <p:ext uri="{BB962C8B-B14F-4D97-AF65-F5344CB8AC3E}">
        <p14:creationId xmlns:p14="http://schemas.microsoft.com/office/powerpoint/2010/main" val="2503530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B2099E-5665-4678-A1B7-E6C7F4143E8B}"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93D48A-EB6B-4BEC-9303-77F62A7B2C8F}" type="slidenum">
              <a:rPr lang="en-US" smtClean="0"/>
              <a:t>‹#›</a:t>
            </a:fld>
            <a:endParaRPr lang="en-US"/>
          </a:p>
        </p:txBody>
      </p:sp>
    </p:spTree>
    <p:extLst>
      <p:ext uri="{BB962C8B-B14F-4D97-AF65-F5344CB8AC3E}">
        <p14:creationId xmlns:p14="http://schemas.microsoft.com/office/powerpoint/2010/main" val="1499378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9B2099E-5665-4678-A1B7-E6C7F4143E8B}" type="datetimeFigureOut">
              <a:rPr lang="en-US" smtClean="0"/>
              <a:t>5/20/2026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93D48A-EB6B-4BEC-9303-77F62A7B2C8F}" type="slidenum">
              <a:rPr lang="en-US" smtClean="0"/>
              <a:t>‹#›</a:t>
            </a:fld>
            <a:endParaRPr lang="en-US"/>
          </a:p>
        </p:txBody>
      </p:sp>
    </p:spTree>
    <p:extLst>
      <p:ext uri="{BB962C8B-B14F-4D97-AF65-F5344CB8AC3E}">
        <p14:creationId xmlns:p14="http://schemas.microsoft.com/office/powerpoint/2010/main" val="650343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C9B2099E-5665-4678-A1B7-E6C7F4143E8B}" type="datetimeFigureOut">
              <a:rPr lang="en-US" smtClean="0"/>
              <a:t>5/20/2026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A693D48A-EB6B-4BEC-9303-77F62A7B2C8F}" type="slidenum">
              <a:rPr lang="en-US" smtClean="0"/>
              <a:t>‹#›</a:t>
            </a:fld>
            <a:endParaRPr lang="en-US"/>
          </a:p>
        </p:txBody>
      </p:sp>
    </p:spTree>
    <p:extLst>
      <p:ext uri="{BB962C8B-B14F-4D97-AF65-F5344CB8AC3E}">
        <p14:creationId xmlns:p14="http://schemas.microsoft.com/office/powerpoint/2010/main" val="3518475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9B2099E-5665-4678-A1B7-E6C7F4143E8B}" type="datetimeFigureOut">
              <a:rPr lang="en-US" smtClean="0"/>
              <a:t>5/20/2026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A693D48A-EB6B-4BEC-9303-77F62A7B2C8F}" type="slidenum">
              <a:rPr lang="en-US" smtClean="0"/>
              <a:t>‹#›</a:t>
            </a:fld>
            <a:endParaRPr lang="en-US"/>
          </a:p>
        </p:txBody>
      </p:sp>
    </p:spTree>
    <p:extLst>
      <p:ext uri="{BB962C8B-B14F-4D97-AF65-F5344CB8AC3E}">
        <p14:creationId xmlns:p14="http://schemas.microsoft.com/office/powerpoint/2010/main" val="5717364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C9B2099E-5665-4678-A1B7-E6C7F4143E8B}" type="datetimeFigureOut">
              <a:rPr lang="en-US" smtClean="0"/>
              <a:t>5/20/2026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A693D48A-EB6B-4BEC-9303-77F62A7B2C8F}" type="slidenum">
              <a:rPr lang="en-US" smtClean="0"/>
              <a:t>‹#›</a:t>
            </a:fld>
            <a:endParaRPr lang="en-US"/>
          </a:p>
        </p:txBody>
      </p:sp>
    </p:spTree>
    <p:extLst>
      <p:ext uri="{BB962C8B-B14F-4D97-AF65-F5344CB8AC3E}">
        <p14:creationId xmlns:p14="http://schemas.microsoft.com/office/powerpoint/2010/main" val="2364472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B2099E-5665-4678-A1B7-E6C7F4143E8B}"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93D48A-EB6B-4BEC-9303-77F62A7B2C8F}" type="slidenum">
              <a:rPr lang="en-US" smtClean="0"/>
              <a:t>‹#›</a:t>
            </a:fld>
            <a:endParaRPr lang="en-US"/>
          </a:p>
        </p:txBody>
      </p:sp>
    </p:spTree>
    <p:extLst>
      <p:ext uri="{BB962C8B-B14F-4D97-AF65-F5344CB8AC3E}">
        <p14:creationId xmlns:p14="http://schemas.microsoft.com/office/powerpoint/2010/main" val="17187641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B2099E-5665-4678-A1B7-E6C7F4143E8B}"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93D48A-EB6B-4BEC-9303-77F62A7B2C8F}" type="slidenum">
              <a:rPr lang="en-US" smtClean="0"/>
              <a:t>‹#›</a:t>
            </a:fld>
            <a:endParaRPr lang="en-US"/>
          </a:p>
        </p:txBody>
      </p:sp>
    </p:spTree>
    <p:extLst>
      <p:ext uri="{BB962C8B-B14F-4D97-AF65-F5344CB8AC3E}">
        <p14:creationId xmlns:p14="http://schemas.microsoft.com/office/powerpoint/2010/main" val="1979619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9B2099E-5665-4678-A1B7-E6C7F4143E8B}"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93D48A-EB6B-4BEC-9303-77F62A7B2C8F}" type="slidenum">
              <a:rPr lang="en-US" smtClean="0"/>
              <a:t>‹#›</a:t>
            </a:fld>
            <a:endParaRPr lang="en-US"/>
          </a:p>
        </p:txBody>
      </p:sp>
    </p:spTree>
    <p:extLst>
      <p:ext uri="{BB962C8B-B14F-4D97-AF65-F5344CB8AC3E}">
        <p14:creationId xmlns:p14="http://schemas.microsoft.com/office/powerpoint/2010/main" val="40973634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9B2099E-5665-4678-A1B7-E6C7F4143E8B}"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93D48A-EB6B-4BEC-9303-77F62A7B2C8F}"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1807948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B2099E-5665-4678-A1B7-E6C7F4143E8B}"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93D48A-EB6B-4BEC-9303-77F62A7B2C8F}" type="slidenum">
              <a:rPr lang="en-US" smtClean="0"/>
              <a:t>‹#›</a:t>
            </a:fld>
            <a:endParaRPr lang="en-US"/>
          </a:p>
        </p:txBody>
      </p:sp>
    </p:spTree>
    <p:extLst>
      <p:ext uri="{BB962C8B-B14F-4D97-AF65-F5344CB8AC3E}">
        <p14:creationId xmlns:p14="http://schemas.microsoft.com/office/powerpoint/2010/main" val="18822571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9B2099E-5665-4678-A1B7-E6C7F4143E8B}" type="datetimeFigureOut">
              <a:rPr lang="en-US" smtClean="0"/>
              <a:t>5/20/2026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93D48A-EB6B-4BEC-9303-77F62A7B2C8F}" type="slidenum">
              <a:rPr lang="en-US" smtClean="0"/>
              <a:t>‹#›</a:t>
            </a:fld>
            <a:endParaRPr lang="en-US"/>
          </a:p>
        </p:txBody>
      </p:sp>
    </p:spTree>
    <p:extLst>
      <p:ext uri="{BB962C8B-B14F-4D97-AF65-F5344CB8AC3E}">
        <p14:creationId xmlns:p14="http://schemas.microsoft.com/office/powerpoint/2010/main" val="38618476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9B2099E-5665-4678-A1B7-E6C7F4143E8B}" type="datetimeFigureOut">
              <a:rPr lang="en-US" smtClean="0"/>
              <a:t>5/20/2026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93D48A-EB6B-4BEC-9303-77F62A7B2C8F}" type="slidenum">
              <a:rPr lang="en-US" smtClean="0"/>
              <a:t>‹#›</a:t>
            </a:fld>
            <a:endParaRPr lang="en-US"/>
          </a:p>
        </p:txBody>
      </p:sp>
    </p:spTree>
    <p:extLst>
      <p:ext uri="{BB962C8B-B14F-4D97-AF65-F5344CB8AC3E}">
        <p14:creationId xmlns:p14="http://schemas.microsoft.com/office/powerpoint/2010/main" val="21437797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B2099E-5665-4678-A1B7-E6C7F4143E8B}"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93D48A-EB6B-4BEC-9303-77F62A7B2C8F}" type="slidenum">
              <a:rPr lang="en-US" smtClean="0"/>
              <a:t>‹#›</a:t>
            </a:fld>
            <a:endParaRPr lang="en-US"/>
          </a:p>
        </p:txBody>
      </p:sp>
    </p:spTree>
    <p:extLst>
      <p:ext uri="{BB962C8B-B14F-4D97-AF65-F5344CB8AC3E}">
        <p14:creationId xmlns:p14="http://schemas.microsoft.com/office/powerpoint/2010/main" val="4966233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B2099E-5665-4678-A1B7-E6C7F4143E8B}"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93D48A-EB6B-4BEC-9303-77F62A7B2C8F}" type="slidenum">
              <a:rPr lang="en-US" smtClean="0"/>
              <a:t>‹#›</a:t>
            </a:fld>
            <a:endParaRPr lang="en-US"/>
          </a:p>
        </p:txBody>
      </p:sp>
    </p:spTree>
    <p:extLst>
      <p:ext uri="{BB962C8B-B14F-4D97-AF65-F5344CB8AC3E}">
        <p14:creationId xmlns:p14="http://schemas.microsoft.com/office/powerpoint/2010/main" val="27762564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C9B2099E-5665-4678-A1B7-E6C7F4143E8B}" type="datetimeFigureOut">
              <a:rPr lang="en-US" smtClean="0"/>
              <a:t>5/20/2026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693D48A-EB6B-4BEC-9303-77F62A7B2C8F}" type="slidenum">
              <a:rPr lang="en-US" smtClean="0"/>
              <a:t>‹#›</a:t>
            </a:fld>
            <a:endParaRPr lang="en-US"/>
          </a:p>
        </p:txBody>
      </p:sp>
    </p:spTree>
    <p:extLst>
      <p:ext uri="{BB962C8B-B14F-4D97-AF65-F5344CB8AC3E}">
        <p14:creationId xmlns:p14="http://schemas.microsoft.com/office/powerpoint/2010/main" val="3863310383"/>
      </p:ext>
    </p:extLst>
  </p:cSld>
  <p:clrMap bg1="dk1" tx1="lt1" bg2="dk2" tx2="lt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0" r:id="rId14"/>
    <p:sldLayoutId id="2147483831" r:id="rId15"/>
    <p:sldLayoutId id="2147483832" r:id="rId16"/>
    <p:sldLayoutId id="2147483833"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77C7A-474F-54FA-7FBE-65CE781266CF}"/>
              </a:ext>
            </a:extLst>
          </p:cNvPr>
          <p:cNvSpPr>
            <a:spLocks noGrp="1"/>
          </p:cNvSpPr>
          <p:nvPr>
            <p:ph type="ctrTitle"/>
          </p:nvPr>
        </p:nvSpPr>
        <p:spPr/>
        <p:txBody>
          <a:bodyPr>
            <a:normAutofit fontScale="90000"/>
          </a:bodyPr>
          <a:lstStyle/>
          <a:p>
            <a:r>
              <a:rPr lang="en-US" dirty="0"/>
              <a:t>Capstone Project: Unsupervised Learning Report</a:t>
            </a:r>
          </a:p>
        </p:txBody>
      </p:sp>
      <p:sp>
        <p:nvSpPr>
          <p:cNvPr id="3" name="Subtitle 2">
            <a:extLst>
              <a:ext uri="{FF2B5EF4-FFF2-40B4-BE49-F238E27FC236}">
                <a16:creationId xmlns:a16="http://schemas.microsoft.com/office/drawing/2014/main" id="{C1EE0AA5-08DB-AE63-7E0F-2D1A7467DAB1}"/>
              </a:ext>
            </a:extLst>
          </p:cNvPr>
          <p:cNvSpPr>
            <a:spLocks noGrp="1"/>
          </p:cNvSpPr>
          <p:nvPr>
            <p:ph type="subTitle" idx="1"/>
          </p:nvPr>
        </p:nvSpPr>
        <p:spPr/>
        <p:txBody>
          <a:bodyPr/>
          <a:lstStyle/>
          <a:p>
            <a:r>
              <a:rPr lang="en-US" dirty="0"/>
              <a:t>Authored by Eliud Mule</a:t>
            </a:r>
          </a:p>
        </p:txBody>
      </p:sp>
    </p:spTree>
    <p:extLst>
      <p:ext uri="{BB962C8B-B14F-4D97-AF65-F5344CB8AC3E}">
        <p14:creationId xmlns:p14="http://schemas.microsoft.com/office/powerpoint/2010/main" val="25777794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76C27-4EE5-D152-DC69-EE26F2C1E373}"/>
              </a:ext>
            </a:extLst>
          </p:cNvPr>
          <p:cNvSpPr>
            <a:spLocks noGrp="1"/>
          </p:cNvSpPr>
          <p:nvPr>
            <p:ph type="title"/>
          </p:nvPr>
        </p:nvSpPr>
        <p:spPr/>
        <p:txBody>
          <a:bodyPr/>
          <a:lstStyle/>
          <a:p>
            <a:r>
              <a:rPr lang="en-US" dirty="0"/>
              <a:t>Project Overview</a:t>
            </a:r>
          </a:p>
        </p:txBody>
      </p:sp>
      <p:sp>
        <p:nvSpPr>
          <p:cNvPr id="3" name="Content Placeholder 2">
            <a:extLst>
              <a:ext uri="{FF2B5EF4-FFF2-40B4-BE49-F238E27FC236}">
                <a16:creationId xmlns:a16="http://schemas.microsoft.com/office/drawing/2014/main" id="{0EAE4F96-F213-50EC-D554-F482AE1F07C6}"/>
              </a:ext>
            </a:extLst>
          </p:cNvPr>
          <p:cNvSpPr>
            <a:spLocks noGrp="1"/>
          </p:cNvSpPr>
          <p:nvPr>
            <p:ph idx="1"/>
          </p:nvPr>
        </p:nvSpPr>
        <p:spPr/>
        <p:txBody>
          <a:bodyPr>
            <a:normAutofit fontScale="92500" lnSpcReduction="10000"/>
          </a:bodyPr>
          <a:lstStyle/>
          <a:p>
            <a:r>
              <a:rPr lang="en-US" dirty="0"/>
              <a:t>The objective of the project was to identify meaningful patient subgroups based on clinical biomarkers and health-related variables using clustering techniques.</a:t>
            </a:r>
          </a:p>
          <a:p>
            <a:r>
              <a:rPr lang="en-US" dirty="0"/>
              <a:t>The analysis pipeline included:</a:t>
            </a:r>
          </a:p>
          <a:p>
            <a:r>
              <a:rPr lang="en-US" dirty="0"/>
              <a:t>Data import and quality assessment</a:t>
            </a:r>
          </a:p>
          <a:p>
            <a:r>
              <a:rPr lang="en-US" dirty="0"/>
              <a:t>Missing value handling and preprocessing</a:t>
            </a:r>
          </a:p>
          <a:p>
            <a:r>
              <a:rPr lang="en-US" dirty="0"/>
              <a:t>Outlier detection and treatment</a:t>
            </a:r>
          </a:p>
          <a:p>
            <a:r>
              <a:rPr lang="en-US" dirty="0"/>
              <a:t>Exploratory data visualization</a:t>
            </a:r>
          </a:p>
          <a:p>
            <a:r>
              <a:rPr lang="en-US" dirty="0"/>
              <a:t>Principal Component Analysis (PCA)</a:t>
            </a:r>
          </a:p>
          <a:p>
            <a:r>
              <a:rPr lang="en-US" dirty="0"/>
              <a:t>K-means clustering</a:t>
            </a:r>
          </a:p>
          <a:p>
            <a:r>
              <a:rPr lang="en-US" dirty="0"/>
              <a:t>Cluster interpretation and validation</a:t>
            </a:r>
          </a:p>
          <a:p>
            <a:endParaRPr lang="en-US" dirty="0"/>
          </a:p>
        </p:txBody>
      </p:sp>
    </p:spTree>
    <p:extLst>
      <p:ext uri="{BB962C8B-B14F-4D97-AF65-F5344CB8AC3E}">
        <p14:creationId xmlns:p14="http://schemas.microsoft.com/office/powerpoint/2010/main" val="2962291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DA3E6-625E-F9C2-63EF-2D5FBDB268C0}"/>
              </a:ext>
            </a:extLst>
          </p:cNvPr>
          <p:cNvSpPr>
            <a:spLocks noGrp="1"/>
          </p:cNvSpPr>
          <p:nvPr>
            <p:ph type="title"/>
          </p:nvPr>
        </p:nvSpPr>
        <p:spPr/>
        <p:txBody>
          <a:bodyPr/>
          <a:lstStyle/>
          <a:p>
            <a:r>
              <a:rPr lang="en-US" dirty="0"/>
              <a:t>Task 1: Data Import and Initial Exploration</a:t>
            </a:r>
          </a:p>
        </p:txBody>
      </p:sp>
      <p:sp>
        <p:nvSpPr>
          <p:cNvPr id="3" name="Content Placeholder 2">
            <a:extLst>
              <a:ext uri="{FF2B5EF4-FFF2-40B4-BE49-F238E27FC236}">
                <a16:creationId xmlns:a16="http://schemas.microsoft.com/office/drawing/2014/main" id="{3541D183-3AC4-D9C7-0F05-2D3ED43DA275}"/>
              </a:ext>
            </a:extLst>
          </p:cNvPr>
          <p:cNvSpPr>
            <a:spLocks noGrp="1"/>
          </p:cNvSpPr>
          <p:nvPr>
            <p:ph idx="1"/>
          </p:nvPr>
        </p:nvSpPr>
        <p:spPr/>
        <p:txBody>
          <a:bodyPr>
            <a:normAutofit/>
          </a:bodyPr>
          <a:lstStyle/>
          <a:p>
            <a:r>
              <a:rPr lang="en-US" dirty="0"/>
              <a:t>Necessary libraries were imported and the medical clustering data loaded.</a:t>
            </a:r>
          </a:p>
          <a:p>
            <a:r>
              <a:rPr lang="en-US" dirty="0"/>
              <a:t>The dataset had 220 observations with 19 variables.</a:t>
            </a:r>
          </a:p>
          <a:p>
            <a:r>
              <a:rPr lang="en-US" dirty="0"/>
              <a:t>The dataset had missing values which were handled in the data preprocessing process.</a:t>
            </a:r>
          </a:p>
          <a:p>
            <a:endParaRPr lang="en-US" dirty="0"/>
          </a:p>
        </p:txBody>
      </p:sp>
    </p:spTree>
    <p:extLst>
      <p:ext uri="{BB962C8B-B14F-4D97-AF65-F5344CB8AC3E}">
        <p14:creationId xmlns:p14="http://schemas.microsoft.com/office/powerpoint/2010/main" val="6399827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D5F31-6C05-DC34-A439-CC34A8A5F1AE}"/>
              </a:ext>
            </a:extLst>
          </p:cNvPr>
          <p:cNvSpPr>
            <a:spLocks noGrp="1"/>
          </p:cNvSpPr>
          <p:nvPr>
            <p:ph type="title"/>
          </p:nvPr>
        </p:nvSpPr>
        <p:spPr/>
        <p:txBody>
          <a:bodyPr/>
          <a:lstStyle/>
          <a:p>
            <a:r>
              <a:rPr lang="en-US" dirty="0"/>
              <a:t>Task 2 : Data Preprocessing</a:t>
            </a:r>
          </a:p>
        </p:txBody>
      </p:sp>
      <p:sp>
        <p:nvSpPr>
          <p:cNvPr id="3" name="Content Placeholder 2">
            <a:extLst>
              <a:ext uri="{FF2B5EF4-FFF2-40B4-BE49-F238E27FC236}">
                <a16:creationId xmlns:a16="http://schemas.microsoft.com/office/drawing/2014/main" id="{5FEF1441-081B-5385-0FB3-4FFA154B635C}"/>
              </a:ext>
            </a:extLst>
          </p:cNvPr>
          <p:cNvSpPr>
            <a:spLocks noGrp="1"/>
          </p:cNvSpPr>
          <p:nvPr>
            <p:ph idx="1"/>
          </p:nvPr>
        </p:nvSpPr>
        <p:spPr/>
        <p:txBody>
          <a:bodyPr>
            <a:normAutofit fontScale="85000" lnSpcReduction="20000"/>
          </a:bodyPr>
          <a:lstStyle/>
          <a:p>
            <a:r>
              <a:rPr lang="en-US" b="1" dirty="0"/>
              <a:t> Missing Data Handling:</a:t>
            </a:r>
          </a:p>
          <a:p>
            <a:r>
              <a:rPr lang="en-US" dirty="0"/>
              <a:t>Two strategies were applied:</a:t>
            </a:r>
          </a:p>
          <a:p>
            <a:r>
              <a:rPr lang="en-US" dirty="0"/>
              <a:t>Variables with more than 15% missing values were removed.</a:t>
            </a:r>
          </a:p>
          <a:p>
            <a:r>
              <a:rPr lang="en-US" dirty="0"/>
              <a:t>Remaining numeric missing values were imputed using median imputation.</a:t>
            </a:r>
            <a:endParaRPr lang="en-US" b="1" dirty="0"/>
          </a:p>
          <a:p>
            <a:r>
              <a:rPr lang="en-US" dirty="0"/>
              <a:t>Median imputation was selected </a:t>
            </a:r>
            <a:r>
              <a:rPr lang="en-US" dirty="0" err="1"/>
              <a:t>because:It</a:t>
            </a:r>
            <a:r>
              <a:rPr lang="en-US" dirty="0"/>
              <a:t> is robust to skewed distributions and It minimizes distortion from extreme outliers.</a:t>
            </a:r>
          </a:p>
          <a:p>
            <a:r>
              <a:rPr lang="en-US" dirty="0"/>
              <a:t>Outliers were then detected using IQR method</a:t>
            </a:r>
          </a:p>
          <a:p>
            <a:r>
              <a:rPr lang="en-US" b="1" dirty="0"/>
              <a:t>Visual Inspection</a:t>
            </a:r>
          </a:p>
          <a:p>
            <a:r>
              <a:rPr lang="en-US" dirty="0"/>
              <a:t>Boxplots were created for the top five variables with the highest number of outliers.</a:t>
            </a:r>
          </a:p>
          <a:p>
            <a:r>
              <a:rPr lang="en-US" b="1" dirty="0"/>
              <a:t>Findings</a:t>
            </a:r>
          </a:p>
          <a:p>
            <a:r>
              <a:rPr lang="en-US" dirty="0"/>
              <a:t>Biomarkers such as CRP, triglycerides, and </a:t>
            </a:r>
            <a:r>
              <a:rPr lang="en-US" dirty="0" err="1"/>
              <a:t>waist_cm</a:t>
            </a:r>
            <a:r>
              <a:rPr lang="en-US" dirty="0"/>
              <a:t> contained several extreme values.</a:t>
            </a:r>
          </a:p>
          <a:p>
            <a:endParaRPr lang="en-US" dirty="0"/>
          </a:p>
          <a:p>
            <a:endParaRPr lang="en-US" dirty="0"/>
          </a:p>
        </p:txBody>
      </p:sp>
    </p:spTree>
    <p:extLst>
      <p:ext uri="{BB962C8B-B14F-4D97-AF65-F5344CB8AC3E}">
        <p14:creationId xmlns:p14="http://schemas.microsoft.com/office/powerpoint/2010/main" val="2331328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6860-6613-890C-CF42-BBD58EF3789C}"/>
              </a:ext>
            </a:extLst>
          </p:cNvPr>
          <p:cNvSpPr>
            <a:spLocks noGrp="1"/>
          </p:cNvSpPr>
          <p:nvPr>
            <p:ph type="title"/>
          </p:nvPr>
        </p:nvSpPr>
        <p:spPr/>
        <p:txBody>
          <a:bodyPr/>
          <a:lstStyle/>
          <a:p>
            <a:r>
              <a:rPr lang="en-US" dirty="0"/>
              <a:t>Outlier Treatment  and Feature Scaling</a:t>
            </a:r>
          </a:p>
        </p:txBody>
      </p:sp>
      <p:sp>
        <p:nvSpPr>
          <p:cNvPr id="3" name="Content Placeholder 2">
            <a:extLst>
              <a:ext uri="{FF2B5EF4-FFF2-40B4-BE49-F238E27FC236}">
                <a16:creationId xmlns:a16="http://schemas.microsoft.com/office/drawing/2014/main" id="{D77B6880-DD71-5926-14FD-43EEC1B0F1E7}"/>
              </a:ext>
            </a:extLst>
          </p:cNvPr>
          <p:cNvSpPr>
            <a:spLocks noGrp="1"/>
          </p:cNvSpPr>
          <p:nvPr>
            <p:ph idx="1"/>
          </p:nvPr>
        </p:nvSpPr>
        <p:spPr/>
        <p:txBody>
          <a:bodyPr>
            <a:normAutofit fontScale="92500" lnSpcReduction="10000"/>
          </a:bodyPr>
          <a:lstStyle/>
          <a:p>
            <a:r>
              <a:rPr lang="en-US" b="1" dirty="0"/>
              <a:t>Method Used: </a:t>
            </a:r>
            <a:r>
              <a:rPr lang="en-US" b="1" dirty="0" err="1"/>
              <a:t>Winsorization</a:t>
            </a:r>
            <a:endParaRPr lang="en-US" b="1" dirty="0"/>
          </a:p>
          <a:p>
            <a:r>
              <a:rPr lang="en-US" dirty="0"/>
              <a:t>Extreme values were capped at the 1st and 99th percentiles.</a:t>
            </a:r>
            <a:endParaRPr lang="en-US" b="1" dirty="0"/>
          </a:p>
          <a:p>
            <a:r>
              <a:rPr lang="en-US" dirty="0" err="1"/>
              <a:t>Winsorization</a:t>
            </a:r>
            <a:r>
              <a:rPr lang="en-US" dirty="0"/>
              <a:t> was preferred because:</a:t>
            </a:r>
          </a:p>
          <a:p>
            <a:r>
              <a:rPr lang="en-US" dirty="0"/>
              <a:t>It reduces the influence of extreme observations.</a:t>
            </a:r>
          </a:p>
          <a:p>
            <a:r>
              <a:rPr lang="en-US" dirty="0"/>
              <a:t>It preserves all patient records.</a:t>
            </a:r>
          </a:p>
          <a:p>
            <a:r>
              <a:rPr lang="en-US" dirty="0"/>
              <a:t> Method used for Feature Scaling :Standardization using </a:t>
            </a:r>
            <a:r>
              <a:rPr lang="en-US" dirty="0" err="1"/>
              <a:t>StandardScaler</a:t>
            </a:r>
            <a:r>
              <a:rPr lang="en-US" dirty="0"/>
              <a:t>:</a:t>
            </a:r>
          </a:p>
          <a:p>
            <a:r>
              <a:rPr lang="en-US" dirty="0"/>
              <a:t>Scaling was necessary because:</a:t>
            </a:r>
          </a:p>
          <a:p>
            <a:r>
              <a:rPr lang="en-US" dirty="0"/>
              <a:t>K-means clustering relies on Euclidean distance.</a:t>
            </a:r>
          </a:p>
          <a:p>
            <a:r>
              <a:rPr lang="en-US" dirty="0"/>
              <a:t>Variables measured on different scales could dominate clustering.</a:t>
            </a:r>
          </a:p>
          <a:p>
            <a:r>
              <a:rPr lang="en-US" dirty="0"/>
              <a:t>A cleaned dataset with the above changes was then created.</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8461067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09B0E-D994-E53B-97CA-BD9A0697EB33}"/>
              </a:ext>
            </a:extLst>
          </p:cNvPr>
          <p:cNvSpPr>
            <a:spLocks noGrp="1"/>
          </p:cNvSpPr>
          <p:nvPr>
            <p:ph type="title"/>
          </p:nvPr>
        </p:nvSpPr>
        <p:spPr/>
        <p:txBody>
          <a:bodyPr/>
          <a:lstStyle/>
          <a:p>
            <a:r>
              <a:rPr lang="en-US" dirty="0"/>
              <a:t>Task 3: Exploratory Data Visualization</a:t>
            </a:r>
          </a:p>
        </p:txBody>
      </p:sp>
      <p:sp>
        <p:nvSpPr>
          <p:cNvPr id="3" name="Content Placeholder 2">
            <a:extLst>
              <a:ext uri="{FF2B5EF4-FFF2-40B4-BE49-F238E27FC236}">
                <a16:creationId xmlns:a16="http://schemas.microsoft.com/office/drawing/2014/main" id="{EEC80847-4B08-C5B6-1A83-6AB627255392}"/>
              </a:ext>
            </a:extLst>
          </p:cNvPr>
          <p:cNvSpPr>
            <a:spLocks noGrp="1"/>
          </p:cNvSpPr>
          <p:nvPr>
            <p:ph idx="1"/>
          </p:nvPr>
        </p:nvSpPr>
        <p:spPr/>
        <p:txBody>
          <a:bodyPr>
            <a:normAutofit fontScale="92500" lnSpcReduction="20000"/>
          </a:bodyPr>
          <a:lstStyle/>
          <a:p>
            <a:r>
              <a:rPr lang="en-US" dirty="0"/>
              <a:t>Pearson correlations were visualized:</a:t>
            </a:r>
          </a:p>
          <a:p>
            <a:r>
              <a:rPr lang="en-US" altLang="en-US" dirty="0">
                <a:latin typeface="Arial" panose="020B0604020202020204" pitchFamily="34" charset="0"/>
              </a:rPr>
              <a:t>Strongest positive correlation: Total cholesterol vs LDL (0.92) </a:t>
            </a:r>
            <a:endParaRPr lang="en-US" dirty="0"/>
          </a:p>
          <a:p>
            <a:r>
              <a:rPr lang="en-US" altLang="en-US" dirty="0">
                <a:latin typeface="Arial" panose="020B0604020202020204" pitchFamily="34" charset="0"/>
              </a:rPr>
              <a:t>Strongest negative correlation: HDL vs LDL (−0.25) </a:t>
            </a:r>
            <a:r>
              <a:rPr kumimoji="0" lang="en-US" altLang="en-US" b="0" i="0" u="none" strike="noStrike" cap="none" normalizeH="0" baseline="0" dirty="0">
                <a:ln>
                  <a:noFill/>
                </a:ln>
                <a:solidFill>
                  <a:schemeClr val="tx1"/>
                </a:solidFill>
                <a:effectLst/>
                <a:latin typeface="Arial" panose="020B0604020202020204" pitchFamily="34" charset="0"/>
              </a:rPr>
              <a:t>. </a:t>
            </a:r>
            <a:endParaRPr lang="en-US" dirty="0"/>
          </a:p>
          <a:p>
            <a:r>
              <a:rPr lang="en-US" dirty="0"/>
              <a:t>Pairwise Scatterplots were created for the top six variables: Most variables have weak linear relationships with a few displaying slight correlations.</a:t>
            </a:r>
          </a:p>
          <a:p>
            <a:r>
              <a:rPr lang="en-US" dirty="0"/>
              <a:t>Histograms with KDE curves were created for</a:t>
            </a:r>
          </a:p>
          <a:p>
            <a:r>
              <a:rPr lang="en-US" dirty="0" err="1"/>
              <a:t>glucose_fasting</a:t>
            </a:r>
            <a:endParaRPr lang="en-US" dirty="0"/>
          </a:p>
          <a:p>
            <a:r>
              <a:rPr lang="en-US" dirty="0"/>
              <a:t>triglycerides</a:t>
            </a:r>
          </a:p>
          <a:p>
            <a:r>
              <a:rPr lang="en-US" b="1" dirty="0"/>
              <a:t>Findings:</a:t>
            </a:r>
          </a:p>
          <a:p>
            <a:r>
              <a:rPr lang="en-US" b="1" dirty="0"/>
              <a:t>Both Glucose fasting and triglycerides shows a right skewed(positive)distribution.</a:t>
            </a:r>
          </a:p>
          <a:p>
            <a:endParaRPr lang="en-US" b="1" dirty="0"/>
          </a:p>
          <a:p>
            <a:endParaRPr lang="en-US" dirty="0"/>
          </a:p>
          <a:p>
            <a:endParaRPr lang="en-US" dirty="0"/>
          </a:p>
          <a:p>
            <a:endParaRPr kumimoji="0" lang="en-US" altLang="en-US" b="0" i="0" u="none" strike="noStrike" cap="none" normalizeH="0" baseline="0" dirty="0">
              <a:ln>
                <a:noFill/>
              </a:ln>
              <a:solidFill>
                <a:schemeClr val="tx1"/>
              </a:solidFill>
              <a:effectLst/>
              <a:latin typeface="Arial" panose="020B0604020202020204" pitchFamily="34" charset="0"/>
            </a:endParaRPr>
          </a:p>
          <a:p>
            <a:endParaRPr lang="en-US" dirty="0"/>
          </a:p>
        </p:txBody>
      </p:sp>
    </p:spTree>
    <p:extLst>
      <p:ext uri="{BB962C8B-B14F-4D97-AF65-F5344CB8AC3E}">
        <p14:creationId xmlns:p14="http://schemas.microsoft.com/office/powerpoint/2010/main" val="1797379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3C920-4BED-6A8A-17A0-859E5AA6077E}"/>
              </a:ext>
            </a:extLst>
          </p:cNvPr>
          <p:cNvSpPr>
            <a:spLocks noGrp="1"/>
          </p:cNvSpPr>
          <p:nvPr>
            <p:ph type="title"/>
          </p:nvPr>
        </p:nvSpPr>
        <p:spPr/>
        <p:txBody>
          <a:bodyPr/>
          <a:lstStyle/>
          <a:p>
            <a:r>
              <a:rPr lang="en-US" dirty="0"/>
              <a:t>Task 4 : Principal Component Analysis</a:t>
            </a:r>
          </a:p>
        </p:txBody>
      </p:sp>
      <p:sp>
        <p:nvSpPr>
          <p:cNvPr id="3" name="Content Placeholder 2">
            <a:extLst>
              <a:ext uri="{FF2B5EF4-FFF2-40B4-BE49-F238E27FC236}">
                <a16:creationId xmlns:a16="http://schemas.microsoft.com/office/drawing/2014/main" id="{5DB99E4B-0F39-3D0D-4037-F5B38B9C8320}"/>
              </a:ext>
            </a:extLst>
          </p:cNvPr>
          <p:cNvSpPr>
            <a:spLocks noGrp="1"/>
          </p:cNvSpPr>
          <p:nvPr>
            <p:ph idx="1"/>
          </p:nvPr>
        </p:nvSpPr>
        <p:spPr/>
        <p:txBody>
          <a:bodyPr>
            <a:normAutofit fontScale="62500" lnSpcReduction="20000"/>
          </a:bodyPr>
          <a:lstStyle/>
          <a:p>
            <a:pPr marL="0" indent="0">
              <a:buNone/>
            </a:pPr>
            <a:r>
              <a:rPr lang="en-US" dirty="0"/>
              <a:t>.PCA analysis were done on the scaled numeric variables using from </a:t>
            </a:r>
            <a:r>
              <a:rPr lang="en-US" dirty="0" err="1"/>
              <a:t>sklearn.decomposition</a:t>
            </a:r>
            <a:r>
              <a:rPr lang="en-US" dirty="0"/>
              <a:t> import PCA and a  </a:t>
            </a:r>
            <a:r>
              <a:rPr lang="en-US" dirty="0" err="1"/>
              <a:t>screeplot</a:t>
            </a:r>
            <a:r>
              <a:rPr lang="en-US" dirty="0"/>
              <a:t> was generated to explain proportion of variance.</a:t>
            </a:r>
          </a:p>
          <a:p>
            <a:r>
              <a:rPr lang="en-US" dirty="0"/>
              <a:t>The PCA results show the following proportions of variance explained:</a:t>
            </a:r>
          </a:p>
          <a:p>
            <a:r>
              <a:rPr lang="en-US" b="1" dirty="0"/>
              <a:t>PC1: 13.99%</a:t>
            </a:r>
            <a:endParaRPr lang="en-US" dirty="0"/>
          </a:p>
          <a:p>
            <a:r>
              <a:rPr lang="en-US" b="1" dirty="0"/>
              <a:t>PC2:</a:t>
            </a:r>
            <a:r>
              <a:rPr lang="en-US" dirty="0"/>
              <a:t> 10.74% </a:t>
            </a:r>
          </a:p>
          <a:p>
            <a:r>
              <a:rPr lang="en-US" b="1" dirty="0"/>
              <a:t>PC3:</a:t>
            </a:r>
            <a:r>
              <a:rPr lang="en-US" dirty="0"/>
              <a:t> 9.51% </a:t>
            </a:r>
          </a:p>
          <a:p>
            <a:r>
              <a:rPr lang="en-US" b="1" dirty="0"/>
              <a:t>PC4:</a:t>
            </a:r>
            <a:r>
              <a:rPr lang="en-US" dirty="0"/>
              <a:t> 8.53% </a:t>
            </a:r>
          </a:p>
          <a:p>
            <a:r>
              <a:rPr lang="en-US" dirty="0"/>
              <a:t>PC5: 7.77%</a:t>
            </a:r>
          </a:p>
          <a:p>
            <a:r>
              <a:rPr lang="en-US" dirty="0"/>
              <a:t>The scree plot indicates a </a:t>
            </a:r>
            <a:r>
              <a:rPr lang="en-US" b="1" dirty="0"/>
              <a:t>steep drop from PC1 to PC2</a:t>
            </a:r>
            <a:r>
              <a:rPr lang="en-US" dirty="0"/>
              <a:t>, followed by a gradual decline. This suggests that </a:t>
            </a:r>
            <a:r>
              <a:rPr lang="en-US" b="1" dirty="0"/>
              <a:t>PC1 captures the majority of the variation</a:t>
            </a:r>
            <a:r>
              <a:rPr lang="en-US" dirty="0"/>
              <a:t> in the </a:t>
            </a:r>
            <a:r>
              <a:rPr lang="en-US" dirty="0" err="1"/>
              <a:t>dataset.However</a:t>
            </a:r>
            <a:r>
              <a:rPr lang="en-US" dirty="0"/>
              <a:t>, 13.99% is relatively modest. </a:t>
            </a:r>
          </a:p>
          <a:p>
            <a:r>
              <a:rPr lang="en-US" b="1" dirty="0"/>
              <a:t>Meaning</a:t>
            </a:r>
          </a:p>
          <a:p>
            <a:r>
              <a:rPr lang="en-US" dirty="0"/>
              <a:t>No single dominant biomarker pattern exists across all patients.</a:t>
            </a:r>
          </a:p>
          <a:p>
            <a:r>
              <a:rPr lang="en-US" dirty="0"/>
              <a:t>Instead:</a:t>
            </a:r>
          </a:p>
          <a:p>
            <a:r>
              <a:rPr lang="en-US" dirty="0"/>
              <a:t>Patient health profiles are multidimensional. </a:t>
            </a:r>
          </a:p>
          <a:p>
            <a:r>
              <a:rPr lang="en-US" dirty="0"/>
              <a:t>Variability is spread across many biomarkers.</a:t>
            </a:r>
          </a:p>
          <a:p>
            <a:endParaRPr lang="en-US" dirty="0"/>
          </a:p>
        </p:txBody>
      </p:sp>
    </p:spTree>
    <p:extLst>
      <p:ext uri="{BB962C8B-B14F-4D97-AF65-F5344CB8AC3E}">
        <p14:creationId xmlns:p14="http://schemas.microsoft.com/office/powerpoint/2010/main" val="360340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34CC7-8AC5-5682-F550-4A01D00DAB1A}"/>
              </a:ext>
            </a:extLst>
          </p:cNvPr>
          <p:cNvSpPr>
            <a:spLocks noGrp="1"/>
          </p:cNvSpPr>
          <p:nvPr>
            <p:ph type="title"/>
          </p:nvPr>
        </p:nvSpPr>
        <p:spPr/>
        <p:txBody>
          <a:bodyPr/>
          <a:lstStyle/>
          <a:p>
            <a:r>
              <a:rPr lang="en-US" dirty="0"/>
              <a:t>Cumulative Variance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9C8B629-AE4C-F153-FCAD-8974B9890B38}"/>
                  </a:ext>
                </a:extLst>
              </p:cNvPr>
              <p:cNvSpPr>
                <a:spLocks noGrp="1"/>
              </p:cNvSpPr>
              <p:nvPr>
                <p:ph idx="1"/>
              </p:nvPr>
            </p:nvSpPr>
            <p:spPr/>
            <p:txBody>
              <a:bodyPr>
                <a:normAutofit fontScale="85000" lnSpcReduction="10000"/>
              </a:bodyPr>
              <a:lstStyle/>
              <a:p>
                <a:r>
                  <a:rPr lang="en-US" dirty="0"/>
                  <a:t>The first five components explain approximately: </a:t>
                </a:r>
                <a14:m>
                  <m:oMath xmlns:m="http://schemas.openxmlformats.org/officeDocument/2006/math">
                    <m:r>
                      <a:rPr lang="en-US">
                        <a:latin typeface="Cambria Math" panose="02040503050406030204" pitchFamily="18" charset="0"/>
                      </a:rPr>
                      <m:t>50.55%</m:t>
                    </m:r>
                    <m:r>
                      <a:rPr lang="en-US" b="0" i="0" smtClean="0">
                        <a:latin typeface="Cambria Math" panose="02040503050406030204" pitchFamily="18" charset="0"/>
                      </a:rPr>
                      <m:t> </m:t>
                    </m:r>
                  </m:oMath>
                </a14:m>
                <a:r>
                  <a:rPr lang="en-US" dirty="0"/>
                  <a:t>of  the total variance.</a:t>
                </a:r>
              </a:p>
              <a:p>
                <a:r>
                  <a:rPr lang="en-US" b="1" dirty="0"/>
                  <a:t>Meaning</a:t>
                </a:r>
              </a:p>
              <a:p>
                <a:r>
                  <a:rPr lang="en-US" dirty="0"/>
                  <a:t>Even after five principal components, only about half of the dataset variability is captured.</a:t>
                </a:r>
              </a:p>
              <a:p>
                <a:r>
                  <a:rPr lang="en-US" b="1" dirty="0"/>
                  <a:t>Implication</a:t>
                </a:r>
              </a:p>
              <a:p>
                <a:r>
                  <a:rPr lang="en-US" dirty="0"/>
                  <a:t>The dataset is:</a:t>
                </a:r>
              </a:p>
              <a:p>
                <a:r>
                  <a:rPr lang="en-US" dirty="0"/>
                  <a:t>Complex </a:t>
                </a:r>
              </a:p>
              <a:p>
                <a:r>
                  <a:rPr lang="en-US" dirty="0"/>
                  <a:t>High-dimensional </a:t>
                </a:r>
              </a:p>
              <a:p>
                <a:r>
                  <a:rPr lang="en-US" dirty="0"/>
                  <a:t>Influenced by many independent variables</a:t>
                </a:r>
              </a:p>
              <a:p>
                <a:r>
                  <a:rPr lang="en-US" dirty="0"/>
                  <a:t>The PCA results suggest that patient health characteristics are heterogeneous and influenced by multiple independent physiological factors, making PCA and clustering appropriate tools for identifying hidden patient phenotypes.</a:t>
                </a:r>
              </a:p>
              <a:p>
                <a:endParaRPr lang="en-US" dirty="0"/>
              </a:p>
            </p:txBody>
          </p:sp>
        </mc:Choice>
        <mc:Fallback>
          <p:sp>
            <p:nvSpPr>
              <p:cNvPr id="3" name="Content Placeholder 2">
                <a:extLst>
                  <a:ext uri="{FF2B5EF4-FFF2-40B4-BE49-F238E27FC236}">
                    <a16:creationId xmlns:a16="http://schemas.microsoft.com/office/drawing/2014/main" id="{39C8B629-AE4C-F153-FCAD-8974B9890B38}"/>
                  </a:ext>
                </a:extLst>
              </p:cNvPr>
              <p:cNvSpPr>
                <a:spLocks noGrp="1" noRot="1" noChangeAspect="1" noMove="1" noResize="1" noEditPoints="1" noAdjustHandles="1" noChangeArrowheads="1" noChangeShapeType="1" noTextEdit="1"/>
              </p:cNvSpPr>
              <p:nvPr>
                <p:ph idx="1"/>
              </p:nvPr>
            </p:nvSpPr>
            <p:spPr>
              <a:blipFill>
                <a:blip r:embed="rId2"/>
                <a:stretch>
                  <a:fillRect l="-136" t="-1163" r="-409"/>
                </a:stretch>
              </a:blipFill>
            </p:spPr>
            <p:txBody>
              <a:bodyPr/>
              <a:lstStyle/>
              <a:p>
                <a:r>
                  <a:rPr lang="en-US">
                    <a:noFill/>
                  </a:rPr>
                  <a:t> </a:t>
                </a:r>
              </a:p>
            </p:txBody>
          </p:sp>
        </mc:Fallback>
      </mc:AlternateContent>
    </p:spTree>
    <p:extLst>
      <p:ext uri="{BB962C8B-B14F-4D97-AF65-F5344CB8AC3E}">
        <p14:creationId xmlns:p14="http://schemas.microsoft.com/office/powerpoint/2010/main" val="2818981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2D9B4-513C-96A9-A3D9-076755C233B4}"/>
              </a:ext>
            </a:extLst>
          </p:cNvPr>
          <p:cNvSpPr>
            <a:spLocks noGrp="1"/>
          </p:cNvSpPr>
          <p:nvPr>
            <p:ph type="title"/>
          </p:nvPr>
        </p:nvSpPr>
        <p:spPr/>
        <p:txBody>
          <a:bodyPr/>
          <a:lstStyle/>
          <a:p>
            <a:r>
              <a:rPr lang="en-US" dirty="0"/>
              <a:t>PCA biplot of PC1 vs. PC2 with variable loadings as arrows</a:t>
            </a:r>
          </a:p>
        </p:txBody>
      </p:sp>
      <p:sp>
        <p:nvSpPr>
          <p:cNvPr id="3" name="Content Placeholder 2">
            <a:extLst>
              <a:ext uri="{FF2B5EF4-FFF2-40B4-BE49-F238E27FC236}">
                <a16:creationId xmlns:a16="http://schemas.microsoft.com/office/drawing/2014/main" id="{418F20B9-1893-29FD-1F43-B3C832AC30B9}"/>
              </a:ext>
            </a:extLst>
          </p:cNvPr>
          <p:cNvSpPr>
            <a:spLocks noGrp="1"/>
          </p:cNvSpPr>
          <p:nvPr>
            <p:ph idx="1"/>
          </p:nvPr>
        </p:nvSpPr>
        <p:spPr/>
        <p:txBody>
          <a:bodyPr/>
          <a:lstStyle/>
          <a:p>
            <a:r>
              <a:rPr lang="en-US" dirty="0"/>
              <a:t>The PCA biplot shows that the cholesterol-related variables(LDL and total cholesterol) strongly influence PC1,while glucose-related variables(fasting glucose and HbA1c) dominate PC2.</a:t>
            </a:r>
          </a:p>
          <a:p>
            <a:r>
              <a:rPr lang="en-US" dirty="0"/>
              <a:t>HDL cholesterol is negatively correlated with </a:t>
            </a:r>
            <a:r>
              <a:rPr lang="en-US" dirty="0" err="1"/>
              <a:t>LDLand</a:t>
            </a:r>
            <a:r>
              <a:rPr lang="en-US" dirty="0"/>
              <a:t> total cholesterol.</a:t>
            </a:r>
          </a:p>
          <a:p>
            <a:r>
              <a:rPr lang="en-US" dirty="0"/>
              <a:t>Most observations cluster near the origin indicating similar profiles with a few outliers showing extreme values.</a:t>
            </a:r>
          </a:p>
          <a:p>
            <a:endParaRPr lang="en-US" dirty="0"/>
          </a:p>
        </p:txBody>
      </p:sp>
    </p:spTree>
    <p:extLst>
      <p:ext uri="{BB962C8B-B14F-4D97-AF65-F5344CB8AC3E}">
        <p14:creationId xmlns:p14="http://schemas.microsoft.com/office/powerpoint/2010/main" val="3175323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0DF36-2F48-B7A1-D24B-EC2E123E1C87}"/>
              </a:ext>
            </a:extLst>
          </p:cNvPr>
          <p:cNvSpPr>
            <a:spLocks noGrp="1"/>
          </p:cNvSpPr>
          <p:nvPr>
            <p:ph type="title"/>
          </p:nvPr>
        </p:nvSpPr>
        <p:spPr/>
        <p:txBody>
          <a:bodyPr/>
          <a:lstStyle/>
          <a:p>
            <a:r>
              <a:rPr lang="en-US" dirty="0"/>
              <a:t>Task 5: K-means Clustering Implementation </a:t>
            </a:r>
          </a:p>
        </p:txBody>
      </p:sp>
      <p:sp>
        <p:nvSpPr>
          <p:cNvPr id="3" name="Content Placeholder 2">
            <a:extLst>
              <a:ext uri="{FF2B5EF4-FFF2-40B4-BE49-F238E27FC236}">
                <a16:creationId xmlns:a16="http://schemas.microsoft.com/office/drawing/2014/main" id="{A3BCFB74-BD4A-C8E7-CCD3-0046AA6215EA}"/>
              </a:ext>
            </a:extLst>
          </p:cNvPr>
          <p:cNvSpPr>
            <a:spLocks noGrp="1"/>
          </p:cNvSpPr>
          <p:nvPr>
            <p:ph idx="1"/>
          </p:nvPr>
        </p:nvSpPr>
        <p:spPr/>
        <p:txBody>
          <a:bodyPr>
            <a:normAutofit fontScale="85000" lnSpcReduction="20000"/>
          </a:bodyPr>
          <a:lstStyle/>
          <a:p>
            <a:r>
              <a:rPr lang="en-US" b="1" dirty="0"/>
              <a:t>Optimal Number of Clusters</a:t>
            </a:r>
          </a:p>
          <a:p>
            <a:r>
              <a:rPr lang="en-US" dirty="0"/>
              <a:t>Three methods were used:</a:t>
            </a:r>
          </a:p>
          <a:p>
            <a:r>
              <a:rPr lang="en-US" b="1" dirty="0"/>
              <a:t>1. Elbow Method</a:t>
            </a:r>
          </a:p>
          <a:p>
            <a:r>
              <a:rPr lang="en-US" dirty="0"/>
              <a:t>Within-cluster sum of squares (inertia) was plotted for k = 1–10.</a:t>
            </a:r>
          </a:p>
          <a:p>
            <a:r>
              <a:rPr lang="en-US" b="1" dirty="0"/>
              <a:t>2. Silhouette Analysis</a:t>
            </a:r>
          </a:p>
          <a:p>
            <a:r>
              <a:rPr lang="en-US" dirty="0"/>
              <a:t>Average silhouette scores were computed.</a:t>
            </a:r>
          </a:p>
          <a:p>
            <a:r>
              <a:rPr lang="en-US" b="1" dirty="0"/>
              <a:t>3. Gap Statistic</a:t>
            </a:r>
          </a:p>
          <a:p>
            <a:r>
              <a:rPr lang="en-US" dirty="0"/>
              <a:t>Gap statistic analysis compared clustering quality to random reference distributions.</a:t>
            </a:r>
          </a:p>
          <a:p>
            <a:r>
              <a:rPr lang="en-US" b="1" dirty="0"/>
              <a:t>Final Choice of k:6</a:t>
            </a:r>
          </a:p>
          <a:p>
            <a:r>
              <a:rPr lang="en-US" dirty="0"/>
              <a:t>The selected value of k was based </a:t>
            </a:r>
            <a:r>
              <a:rPr lang="en-US" dirty="0" err="1"/>
              <a:t>on:High</a:t>
            </a:r>
            <a:r>
              <a:rPr lang="en-US" dirty="0"/>
              <a:t> silhouette score and it provides the best balance of cluster separation and compactness.</a:t>
            </a:r>
          </a:p>
          <a:p>
            <a:r>
              <a:rPr lang="en-US" dirty="0"/>
              <a:t>A k-means model was then fitted.</a:t>
            </a:r>
          </a:p>
          <a:p>
            <a:endParaRPr lang="en-US" dirty="0"/>
          </a:p>
        </p:txBody>
      </p:sp>
    </p:spTree>
    <p:extLst>
      <p:ext uri="{BB962C8B-B14F-4D97-AF65-F5344CB8AC3E}">
        <p14:creationId xmlns:p14="http://schemas.microsoft.com/office/powerpoint/2010/main" val="21969237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93529-AB8A-7A09-DA0A-924FC40EF5A7}"/>
              </a:ext>
            </a:extLst>
          </p:cNvPr>
          <p:cNvSpPr>
            <a:spLocks noGrp="1"/>
          </p:cNvSpPr>
          <p:nvPr>
            <p:ph type="title"/>
          </p:nvPr>
        </p:nvSpPr>
        <p:spPr/>
        <p:txBody>
          <a:bodyPr/>
          <a:lstStyle/>
          <a:p>
            <a:r>
              <a:rPr lang="en-US" dirty="0"/>
              <a:t>Cluster Characterization</a:t>
            </a:r>
          </a:p>
        </p:txBody>
      </p:sp>
      <p:sp>
        <p:nvSpPr>
          <p:cNvPr id="3" name="Content Placeholder 2">
            <a:extLst>
              <a:ext uri="{FF2B5EF4-FFF2-40B4-BE49-F238E27FC236}">
                <a16:creationId xmlns:a16="http://schemas.microsoft.com/office/drawing/2014/main" id="{521FFBE7-C2D6-90B1-8B71-1E1A935C2445}"/>
              </a:ext>
            </a:extLst>
          </p:cNvPr>
          <p:cNvSpPr>
            <a:spLocks noGrp="1"/>
          </p:cNvSpPr>
          <p:nvPr>
            <p:ph idx="1"/>
          </p:nvPr>
        </p:nvSpPr>
        <p:spPr/>
        <p:txBody>
          <a:bodyPr>
            <a:normAutofit fontScale="70000" lnSpcReduction="20000"/>
          </a:bodyPr>
          <a:lstStyle/>
          <a:p>
            <a:r>
              <a:rPr lang="en-US" dirty="0"/>
              <a:t>The K-means clustering algorithm identified </a:t>
            </a:r>
            <a:r>
              <a:rPr lang="en-US" b="1" dirty="0"/>
              <a:t>6 distinct patient clusters</a:t>
            </a:r>
            <a:r>
              <a:rPr lang="en-US" dirty="0"/>
              <a:t> with different clinical and metabolic characteristics.</a:t>
            </a:r>
          </a:p>
          <a:p>
            <a:r>
              <a:rPr lang="en-US" b="1" dirty="0"/>
              <a:t>Cluster 0 — n =20</a:t>
            </a:r>
          </a:p>
          <a:p>
            <a:r>
              <a:rPr lang="en-US" b="1" dirty="0"/>
              <a:t>Key Characteristics:</a:t>
            </a:r>
          </a:p>
          <a:p>
            <a:r>
              <a:rPr lang="en-US" dirty="0"/>
              <a:t>BMI - 29.24 </a:t>
            </a:r>
          </a:p>
          <a:p>
            <a:r>
              <a:rPr lang="en-US" dirty="0"/>
              <a:t>Waist circumference -140 cm </a:t>
            </a:r>
          </a:p>
          <a:p>
            <a:r>
              <a:rPr lang="en-US" dirty="0"/>
              <a:t>Elevated systolic BP - 133 </a:t>
            </a:r>
          </a:p>
          <a:p>
            <a:r>
              <a:rPr lang="en-US" dirty="0"/>
              <a:t>Risk score - 7.16 </a:t>
            </a:r>
          </a:p>
          <a:p>
            <a:r>
              <a:rPr lang="en-US" b="1" dirty="0"/>
              <a:t>Interpretation:</a:t>
            </a:r>
          </a:p>
          <a:p>
            <a:r>
              <a:rPr lang="en-US" dirty="0"/>
              <a:t>This cluster appears to represent:</a:t>
            </a:r>
          </a:p>
          <a:p>
            <a:r>
              <a:rPr lang="en-US" dirty="0"/>
              <a:t>Overweight/obese individuals ,</a:t>
            </a:r>
          </a:p>
          <a:p>
            <a:r>
              <a:rPr lang="en-US" dirty="0"/>
              <a:t>Elevated cardiometabolic risk </a:t>
            </a:r>
          </a:p>
          <a:p>
            <a:r>
              <a:rPr lang="en-US" dirty="0"/>
              <a:t>Possible early metabolic syndrome phenotype </a:t>
            </a:r>
          </a:p>
          <a:p>
            <a:br>
              <a:rPr lang="en-US" dirty="0"/>
            </a:br>
            <a:endParaRPr lang="en-US" dirty="0"/>
          </a:p>
          <a:p>
            <a:endParaRPr lang="en-US" dirty="0"/>
          </a:p>
        </p:txBody>
      </p:sp>
    </p:spTree>
    <p:extLst>
      <p:ext uri="{BB962C8B-B14F-4D97-AF65-F5344CB8AC3E}">
        <p14:creationId xmlns:p14="http://schemas.microsoft.com/office/powerpoint/2010/main" val="31629476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5EB46-951A-7579-773D-FD32BE46D6BA}"/>
              </a:ext>
            </a:extLst>
          </p:cNvPr>
          <p:cNvSpPr>
            <a:spLocks noGrp="1"/>
          </p:cNvSpPr>
          <p:nvPr>
            <p:ph type="title"/>
          </p:nvPr>
        </p:nvSpPr>
        <p:spPr/>
        <p:txBody>
          <a:bodyPr/>
          <a:lstStyle/>
          <a:p>
            <a:r>
              <a:rPr lang="en-US" dirty="0"/>
              <a:t>Cluster 1</a:t>
            </a:r>
          </a:p>
        </p:txBody>
      </p:sp>
      <p:sp>
        <p:nvSpPr>
          <p:cNvPr id="3" name="Content Placeholder 2">
            <a:extLst>
              <a:ext uri="{FF2B5EF4-FFF2-40B4-BE49-F238E27FC236}">
                <a16:creationId xmlns:a16="http://schemas.microsoft.com/office/drawing/2014/main" id="{F5459F4E-5C03-19C9-371A-BF3707F40E3C}"/>
              </a:ext>
            </a:extLst>
          </p:cNvPr>
          <p:cNvSpPr>
            <a:spLocks noGrp="1"/>
          </p:cNvSpPr>
          <p:nvPr>
            <p:ph idx="1"/>
          </p:nvPr>
        </p:nvSpPr>
        <p:spPr/>
        <p:txBody>
          <a:bodyPr>
            <a:normAutofit fontScale="92500" lnSpcReduction="20000"/>
          </a:bodyPr>
          <a:lstStyle/>
          <a:p>
            <a:r>
              <a:rPr lang="en-US" b="1" dirty="0"/>
              <a:t>Cluster 1 — n = 92</a:t>
            </a:r>
          </a:p>
          <a:p>
            <a:r>
              <a:rPr lang="en-US" b="1" dirty="0"/>
              <a:t>Key Characteristics</a:t>
            </a:r>
          </a:p>
          <a:p>
            <a:r>
              <a:rPr lang="en-US" dirty="0"/>
              <a:t>Largest cluster (41.8%) </a:t>
            </a:r>
          </a:p>
          <a:p>
            <a:r>
              <a:rPr lang="en-US" dirty="0"/>
              <a:t>BMI - 28.93 </a:t>
            </a:r>
          </a:p>
          <a:p>
            <a:r>
              <a:rPr lang="en-US" dirty="0"/>
              <a:t>Waist circumference - 139.85 cm </a:t>
            </a:r>
          </a:p>
          <a:p>
            <a:r>
              <a:rPr lang="en-US" dirty="0"/>
              <a:t>Moderate BP and glucose measures </a:t>
            </a:r>
          </a:p>
          <a:p>
            <a:r>
              <a:rPr lang="en-US" dirty="0"/>
              <a:t>Risk score - 6.18 </a:t>
            </a:r>
          </a:p>
          <a:p>
            <a:r>
              <a:rPr lang="en-US" b="1" dirty="0"/>
              <a:t>Interpretation</a:t>
            </a:r>
          </a:p>
          <a:p>
            <a:r>
              <a:rPr lang="en-US" dirty="0"/>
              <a:t>This cluster likely represents:</a:t>
            </a:r>
          </a:p>
          <a:p>
            <a:r>
              <a:rPr lang="en-US" dirty="0"/>
              <a:t>Average/moderate-risk patients </a:t>
            </a:r>
          </a:p>
          <a:p>
            <a:r>
              <a:rPr lang="en-US" dirty="0"/>
              <a:t>Individuals with manageable metabolic profiles </a:t>
            </a:r>
          </a:p>
          <a:p>
            <a:endParaRPr lang="en-US" dirty="0"/>
          </a:p>
        </p:txBody>
      </p:sp>
    </p:spTree>
    <p:extLst>
      <p:ext uri="{BB962C8B-B14F-4D97-AF65-F5344CB8AC3E}">
        <p14:creationId xmlns:p14="http://schemas.microsoft.com/office/powerpoint/2010/main" val="2764108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7D81F-82EE-6386-D1FB-390D673467D6}"/>
              </a:ext>
            </a:extLst>
          </p:cNvPr>
          <p:cNvSpPr>
            <a:spLocks noGrp="1"/>
          </p:cNvSpPr>
          <p:nvPr>
            <p:ph type="title"/>
          </p:nvPr>
        </p:nvSpPr>
        <p:spPr/>
        <p:txBody>
          <a:bodyPr/>
          <a:lstStyle/>
          <a:p>
            <a:r>
              <a:rPr lang="en-US" dirty="0"/>
              <a:t>Cluster 2</a:t>
            </a:r>
          </a:p>
        </p:txBody>
      </p:sp>
      <p:sp>
        <p:nvSpPr>
          <p:cNvPr id="3" name="Content Placeholder 2">
            <a:extLst>
              <a:ext uri="{FF2B5EF4-FFF2-40B4-BE49-F238E27FC236}">
                <a16:creationId xmlns:a16="http://schemas.microsoft.com/office/drawing/2014/main" id="{4F528136-7997-9AB9-E376-3A4A69EDF393}"/>
              </a:ext>
            </a:extLst>
          </p:cNvPr>
          <p:cNvSpPr>
            <a:spLocks noGrp="1"/>
          </p:cNvSpPr>
          <p:nvPr>
            <p:ph idx="1"/>
          </p:nvPr>
        </p:nvSpPr>
        <p:spPr/>
        <p:txBody>
          <a:bodyPr>
            <a:normAutofit fontScale="92500" lnSpcReduction="20000"/>
          </a:bodyPr>
          <a:lstStyle/>
          <a:p>
            <a:r>
              <a:rPr lang="en-US" b="1" dirty="0"/>
              <a:t>Cluster 2 —n = 83</a:t>
            </a:r>
          </a:p>
          <a:p>
            <a:r>
              <a:rPr lang="en-US" b="1" dirty="0"/>
              <a:t>Key Characteristics</a:t>
            </a:r>
          </a:p>
          <a:p>
            <a:r>
              <a:rPr lang="en-US" dirty="0"/>
              <a:t>Older average age - 54.3 years </a:t>
            </a:r>
          </a:p>
          <a:p>
            <a:r>
              <a:rPr lang="en-US" dirty="0"/>
              <a:t>Highest BMI among large clusters </a:t>
            </a:r>
          </a:p>
          <a:p>
            <a:r>
              <a:rPr lang="en-US" dirty="0"/>
              <a:t>Elevated glucose-related biomarkers </a:t>
            </a:r>
          </a:p>
          <a:p>
            <a:r>
              <a:rPr lang="en-US" dirty="0"/>
              <a:t>Risk score -6.91 </a:t>
            </a:r>
          </a:p>
          <a:p>
            <a:r>
              <a:rPr lang="en-US" b="1" dirty="0"/>
              <a:t>Interpretation</a:t>
            </a:r>
          </a:p>
          <a:p>
            <a:r>
              <a:rPr lang="en-US" dirty="0"/>
              <a:t>This cluster likely represents:</a:t>
            </a:r>
          </a:p>
          <a:p>
            <a:r>
              <a:rPr lang="en-US" dirty="0"/>
              <a:t>Older patients with metabolic dysfunction </a:t>
            </a:r>
          </a:p>
          <a:p>
            <a:r>
              <a:rPr lang="en-US" dirty="0"/>
              <a:t>Increased diabetes/cardiovascular risk </a:t>
            </a:r>
          </a:p>
          <a:p>
            <a:br>
              <a:rPr lang="en-US" dirty="0"/>
            </a:br>
            <a:endParaRPr lang="en-US" dirty="0"/>
          </a:p>
          <a:p>
            <a:endParaRPr lang="en-US" dirty="0"/>
          </a:p>
        </p:txBody>
      </p:sp>
    </p:spTree>
    <p:extLst>
      <p:ext uri="{BB962C8B-B14F-4D97-AF65-F5344CB8AC3E}">
        <p14:creationId xmlns:p14="http://schemas.microsoft.com/office/powerpoint/2010/main" val="869540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F9F91-7BD9-B5C3-0716-FE07BCFB09D1}"/>
              </a:ext>
            </a:extLst>
          </p:cNvPr>
          <p:cNvSpPr>
            <a:spLocks noGrp="1"/>
          </p:cNvSpPr>
          <p:nvPr>
            <p:ph type="title"/>
          </p:nvPr>
        </p:nvSpPr>
        <p:spPr/>
        <p:txBody>
          <a:bodyPr/>
          <a:lstStyle/>
          <a:p>
            <a:r>
              <a:rPr lang="en-US" dirty="0"/>
              <a:t>Cluster 3</a:t>
            </a:r>
          </a:p>
        </p:txBody>
      </p:sp>
      <p:sp>
        <p:nvSpPr>
          <p:cNvPr id="3" name="Content Placeholder 2">
            <a:extLst>
              <a:ext uri="{FF2B5EF4-FFF2-40B4-BE49-F238E27FC236}">
                <a16:creationId xmlns:a16="http://schemas.microsoft.com/office/drawing/2014/main" id="{D1B03E0B-5230-6F4E-DC40-3E635AA5145D}"/>
              </a:ext>
            </a:extLst>
          </p:cNvPr>
          <p:cNvSpPr>
            <a:spLocks noGrp="1"/>
          </p:cNvSpPr>
          <p:nvPr>
            <p:ph idx="1"/>
          </p:nvPr>
        </p:nvSpPr>
        <p:spPr/>
        <p:txBody>
          <a:bodyPr>
            <a:normAutofit fontScale="92500" lnSpcReduction="20000"/>
          </a:bodyPr>
          <a:lstStyle/>
          <a:p>
            <a:r>
              <a:rPr lang="en-US" b="1" dirty="0"/>
              <a:t>Cluster 3 — n = 4</a:t>
            </a:r>
          </a:p>
          <a:p>
            <a:r>
              <a:rPr lang="en-US" b="1" dirty="0"/>
              <a:t>Key Characteristics</a:t>
            </a:r>
          </a:p>
          <a:p>
            <a:r>
              <a:rPr lang="en-US" dirty="0"/>
              <a:t>Very small cluster (n=4) </a:t>
            </a:r>
          </a:p>
          <a:p>
            <a:r>
              <a:rPr lang="en-US" dirty="0"/>
              <a:t>High variability (large SDs) </a:t>
            </a:r>
          </a:p>
          <a:p>
            <a:r>
              <a:rPr lang="en-US" dirty="0"/>
              <a:t>Elevated physical activity variability </a:t>
            </a:r>
          </a:p>
          <a:p>
            <a:r>
              <a:rPr lang="en-US" dirty="0"/>
              <a:t>High risk score - 7.22 </a:t>
            </a:r>
          </a:p>
          <a:p>
            <a:r>
              <a:rPr lang="en-US" b="1" dirty="0"/>
              <a:t>Interpretation</a:t>
            </a:r>
          </a:p>
          <a:p>
            <a:r>
              <a:rPr lang="en-US" dirty="0"/>
              <a:t>This cluster may represent:</a:t>
            </a:r>
          </a:p>
          <a:p>
            <a:r>
              <a:rPr lang="en-US" dirty="0"/>
              <a:t>Highly atypical patients </a:t>
            </a:r>
          </a:p>
          <a:p>
            <a:r>
              <a:rPr lang="en-US" dirty="0"/>
              <a:t>Mixed extreme biomarker profiles </a:t>
            </a:r>
          </a:p>
          <a:p>
            <a:br>
              <a:rPr lang="en-US" dirty="0"/>
            </a:br>
            <a:endParaRPr lang="en-US" dirty="0"/>
          </a:p>
          <a:p>
            <a:endParaRPr lang="en-US" dirty="0"/>
          </a:p>
        </p:txBody>
      </p:sp>
    </p:spTree>
    <p:extLst>
      <p:ext uri="{BB962C8B-B14F-4D97-AF65-F5344CB8AC3E}">
        <p14:creationId xmlns:p14="http://schemas.microsoft.com/office/powerpoint/2010/main" val="26959603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7E3D1-6CF7-61D9-3EE4-23930E527FD9}"/>
              </a:ext>
            </a:extLst>
          </p:cNvPr>
          <p:cNvSpPr>
            <a:spLocks noGrp="1"/>
          </p:cNvSpPr>
          <p:nvPr>
            <p:ph type="title"/>
          </p:nvPr>
        </p:nvSpPr>
        <p:spPr/>
        <p:txBody>
          <a:bodyPr/>
          <a:lstStyle/>
          <a:p>
            <a:r>
              <a:rPr lang="en-US" dirty="0"/>
              <a:t>Cluster 4</a:t>
            </a:r>
          </a:p>
        </p:txBody>
      </p:sp>
      <p:sp>
        <p:nvSpPr>
          <p:cNvPr id="3" name="Content Placeholder 2">
            <a:extLst>
              <a:ext uri="{FF2B5EF4-FFF2-40B4-BE49-F238E27FC236}">
                <a16:creationId xmlns:a16="http://schemas.microsoft.com/office/drawing/2014/main" id="{4D8516A8-1240-526B-2265-45CD5FBA32B5}"/>
              </a:ext>
            </a:extLst>
          </p:cNvPr>
          <p:cNvSpPr>
            <a:spLocks noGrp="1"/>
          </p:cNvSpPr>
          <p:nvPr>
            <p:ph idx="1"/>
          </p:nvPr>
        </p:nvSpPr>
        <p:spPr/>
        <p:txBody>
          <a:bodyPr>
            <a:normAutofit/>
          </a:bodyPr>
          <a:lstStyle/>
          <a:p>
            <a:r>
              <a:rPr lang="en-US" b="1" dirty="0"/>
              <a:t>Cluster 4 — n =6</a:t>
            </a:r>
          </a:p>
          <a:p>
            <a:r>
              <a:rPr lang="en-US" b="1" dirty="0"/>
              <a:t>Key Characteristics</a:t>
            </a:r>
          </a:p>
          <a:p>
            <a:r>
              <a:rPr lang="en-US" dirty="0"/>
              <a:t>Extremely high systolic BP -  448</a:t>
            </a:r>
          </a:p>
          <a:p>
            <a:r>
              <a:rPr lang="en-US" dirty="0"/>
              <a:t>Risk score - 9.02 (highest) </a:t>
            </a:r>
          </a:p>
          <a:p>
            <a:r>
              <a:rPr lang="en-US" dirty="0"/>
              <a:t>Older age group </a:t>
            </a:r>
          </a:p>
          <a:p>
            <a:r>
              <a:rPr lang="en-US" b="1" dirty="0"/>
              <a:t>Interpretation</a:t>
            </a:r>
          </a:p>
          <a:p>
            <a:r>
              <a:rPr lang="en-US" dirty="0"/>
              <a:t>This cluster likely represents:</a:t>
            </a:r>
          </a:p>
          <a:p>
            <a:r>
              <a:rPr lang="en-US" dirty="0"/>
              <a:t>Severe hypertensive or abnormal patients </a:t>
            </a:r>
          </a:p>
          <a:p>
            <a:r>
              <a:rPr lang="en-US" dirty="0"/>
              <a:t>Possible data anomalies or extreme outliers </a:t>
            </a:r>
          </a:p>
          <a:p>
            <a:endParaRPr lang="en-US" dirty="0"/>
          </a:p>
        </p:txBody>
      </p:sp>
    </p:spTree>
    <p:extLst>
      <p:ext uri="{BB962C8B-B14F-4D97-AF65-F5344CB8AC3E}">
        <p14:creationId xmlns:p14="http://schemas.microsoft.com/office/powerpoint/2010/main" val="36794426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EA8B2-B7DD-B390-B91F-BE56D35AE7A2}"/>
              </a:ext>
            </a:extLst>
          </p:cNvPr>
          <p:cNvSpPr>
            <a:spLocks noGrp="1"/>
          </p:cNvSpPr>
          <p:nvPr>
            <p:ph type="title"/>
          </p:nvPr>
        </p:nvSpPr>
        <p:spPr/>
        <p:txBody>
          <a:bodyPr/>
          <a:lstStyle/>
          <a:p>
            <a:r>
              <a:rPr lang="en-US" dirty="0"/>
              <a:t>Cluster 5</a:t>
            </a:r>
          </a:p>
        </p:txBody>
      </p:sp>
      <p:sp>
        <p:nvSpPr>
          <p:cNvPr id="3" name="Content Placeholder 2">
            <a:extLst>
              <a:ext uri="{FF2B5EF4-FFF2-40B4-BE49-F238E27FC236}">
                <a16:creationId xmlns:a16="http://schemas.microsoft.com/office/drawing/2014/main" id="{06491F18-32A4-1A1D-7DB7-D6E9ECA32AFE}"/>
              </a:ext>
            </a:extLst>
          </p:cNvPr>
          <p:cNvSpPr>
            <a:spLocks noGrp="1"/>
          </p:cNvSpPr>
          <p:nvPr>
            <p:ph idx="1"/>
          </p:nvPr>
        </p:nvSpPr>
        <p:spPr/>
        <p:txBody>
          <a:bodyPr>
            <a:normAutofit fontScale="55000" lnSpcReduction="20000"/>
          </a:bodyPr>
          <a:lstStyle/>
          <a:p>
            <a:r>
              <a:rPr lang="en-US" b="1" dirty="0"/>
              <a:t>Cluster 5 — n=15</a:t>
            </a:r>
          </a:p>
          <a:p>
            <a:r>
              <a:rPr lang="en-US" b="1" dirty="0"/>
              <a:t>Key Characteristics</a:t>
            </a:r>
          </a:p>
          <a:p>
            <a:r>
              <a:rPr lang="en-US" dirty="0"/>
              <a:t>Lowest BMI - 19.64 </a:t>
            </a:r>
          </a:p>
          <a:p>
            <a:r>
              <a:rPr lang="en-US" dirty="0"/>
              <a:t>Smaller waist circumference - 128.95 </a:t>
            </a:r>
          </a:p>
          <a:p>
            <a:r>
              <a:rPr lang="en-US" dirty="0"/>
              <a:t>Higher metabolic syndrome prevalence </a:t>
            </a:r>
          </a:p>
          <a:p>
            <a:r>
              <a:rPr lang="en-US" dirty="0"/>
              <a:t>Risk score - 6.42 </a:t>
            </a:r>
          </a:p>
          <a:p>
            <a:r>
              <a:rPr lang="en-US" b="1" dirty="0"/>
              <a:t>Interpretation</a:t>
            </a:r>
          </a:p>
          <a:p>
            <a:r>
              <a:rPr lang="en-US" dirty="0"/>
              <a:t>This suggests:</a:t>
            </a:r>
          </a:p>
          <a:p>
            <a:r>
              <a:rPr lang="en-US" dirty="0"/>
              <a:t>Risk is not entirely obesity-driven </a:t>
            </a:r>
          </a:p>
          <a:p>
            <a:r>
              <a:rPr lang="en-US" dirty="0"/>
              <a:t>Some lean patients still exhibit cardiometabolic abnormalities</a:t>
            </a:r>
          </a:p>
          <a:p>
            <a:r>
              <a:rPr lang="en-US" dirty="0"/>
              <a:t>The strongest determinants of cluster membership are:</a:t>
            </a:r>
          </a:p>
          <a:p>
            <a:r>
              <a:rPr lang="en-US" dirty="0"/>
              <a:t>Systolic blood pressure </a:t>
            </a:r>
          </a:p>
          <a:p>
            <a:r>
              <a:rPr lang="en-US" dirty="0"/>
              <a:t>Waist circumference </a:t>
            </a:r>
          </a:p>
          <a:p>
            <a:r>
              <a:rPr lang="en-US" dirty="0"/>
              <a:t>Fasting glucose</a:t>
            </a:r>
          </a:p>
          <a:p>
            <a:r>
              <a:rPr lang="en-US" dirty="0"/>
              <a:t> </a:t>
            </a:r>
          </a:p>
          <a:p>
            <a:endParaRPr lang="en-US" dirty="0"/>
          </a:p>
        </p:txBody>
      </p:sp>
    </p:spTree>
    <p:extLst>
      <p:ext uri="{BB962C8B-B14F-4D97-AF65-F5344CB8AC3E}">
        <p14:creationId xmlns:p14="http://schemas.microsoft.com/office/powerpoint/2010/main" val="1058645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BD533-BA55-6BB4-1A9F-9750D481A527}"/>
              </a:ext>
            </a:extLst>
          </p:cNvPr>
          <p:cNvSpPr>
            <a:spLocks noGrp="1"/>
          </p:cNvSpPr>
          <p:nvPr>
            <p:ph type="title"/>
          </p:nvPr>
        </p:nvSpPr>
        <p:spPr/>
        <p:txBody>
          <a:bodyPr/>
          <a:lstStyle/>
          <a:p>
            <a:r>
              <a:rPr lang="en-US" dirty="0"/>
              <a:t>External Validation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1FEB45F-F562-06F5-32BF-FBB3E63953CC}"/>
                  </a:ext>
                </a:extLst>
              </p:cNvPr>
              <p:cNvSpPr>
                <a:spLocks noGrp="1"/>
              </p:cNvSpPr>
              <p:nvPr>
                <p:ph idx="1"/>
              </p:nvPr>
            </p:nvSpPr>
            <p:spPr>
              <a:xfrm>
                <a:off x="1676400" y="1574902"/>
                <a:ext cx="10515600" cy="4351338"/>
              </a:xfrm>
            </p:spPr>
            <p:txBody>
              <a:bodyPr>
                <a:normAutofit fontScale="92500" lnSpcReduction="10000"/>
              </a:bodyPr>
              <a:lstStyle/>
              <a:p>
                <a:r>
                  <a:rPr lang="en-US" dirty="0"/>
                  <a:t>External validation was performed to determine whether the identified clusters are meaningfully associated with:</a:t>
                </a:r>
              </a:p>
              <a:p>
                <a:r>
                  <a:rPr lang="en-US" b="1" dirty="0"/>
                  <a:t>Metabolic syndrome status</a:t>
                </a:r>
                <a:r>
                  <a:rPr lang="en-US" dirty="0"/>
                  <a:t> (Chi-square test) </a:t>
                </a:r>
              </a:p>
              <a:p>
                <a:r>
                  <a:rPr lang="en-US" b="1" dirty="0"/>
                  <a:t>Risk score differences</a:t>
                </a:r>
                <a:r>
                  <a:rPr lang="en-US" dirty="0"/>
                  <a:t> (ANOVA) </a:t>
                </a:r>
              </a:p>
              <a:p>
                <a:r>
                  <a:rPr lang="en-US" dirty="0"/>
                  <a:t>1 Chi-Square Test: Clusters vs Metabolic </a:t>
                </a:r>
                <a:r>
                  <a:rPr lang="en-US" dirty="0" err="1"/>
                  <a:t>Syndrom</a:t>
                </a:r>
                <a:endParaRPr lang="en-US" dirty="0"/>
              </a:p>
              <a:p>
                <a:r>
                  <a:rPr lang="en-US" dirty="0"/>
                  <a:t>The p-value is:</a:t>
                </a:r>
                <a14:m>
                  <m:oMath xmlns:m="http://schemas.openxmlformats.org/officeDocument/2006/math">
                    <m:r>
                      <a:rPr lang="en-US">
                        <a:latin typeface="Cambria Math" panose="02040503050406030204" pitchFamily="18" charset="0"/>
                      </a:rPr>
                      <m:t>0.43750</m:t>
                    </m:r>
                  </m:oMath>
                </a14:m>
                <a:r>
                  <a:rPr lang="en-US" dirty="0"/>
                  <a:t> which means the association is </a:t>
                </a:r>
                <a:r>
                  <a:rPr lang="en-US" b="1" dirty="0"/>
                  <a:t>not statistically significant</a:t>
                </a:r>
                <a:r>
                  <a:rPr lang="en-US" dirty="0"/>
                  <a:t>.</a:t>
                </a:r>
              </a:p>
              <a:p>
                <a:r>
                  <a:rPr lang="en-US" dirty="0"/>
                  <a:t>Interpretation:1.</a:t>
                </a:r>
                <a:r>
                  <a:rPr lang="en-US" altLang="en-US" dirty="0">
                    <a:latin typeface="Arial" panose="020B0604020202020204" pitchFamily="34" charset="0"/>
                  </a:rPr>
                  <a:t> The clusters do not clearly separate patients based on metabolic syndrome diagnosis</a:t>
                </a:r>
              </a:p>
              <a:p>
                <a:r>
                  <a:rPr lang="en-US" altLang="en-US" dirty="0">
                    <a:latin typeface="Arial" panose="020B0604020202020204" pitchFamily="34" charset="0"/>
                  </a:rPr>
                  <a:t> 2.Patients with and without metabolic syndrome appear distributed similarly across clusters</a:t>
                </a:r>
              </a:p>
              <a:p>
                <a:r>
                  <a:rPr lang="en-US" dirty="0"/>
                  <a:t>2. ANOVA Test: Clusters vs Risk Score</a:t>
                </a:r>
              </a:p>
              <a:p>
                <a:r>
                  <a:rPr lang="en-US" dirty="0"/>
                  <a:t>The p-value is:</a:t>
                </a:r>
                <a14:m>
                  <m:oMath xmlns:m="http://schemas.openxmlformats.org/officeDocument/2006/math">
                    <m:r>
                      <a:rPr lang="en-US">
                        <a:latin typeface="Cambria Math" panose="02040503050406030204" pitchFamily="18" charset="0"/>
                      </a:rPr>
                      <m:t>0.3040</m:t>
                    </m:r>
                    <m:r>
                      <a:rPr lang="en-US" b="0" i="0" smtClean="0">
                        <a:latin typeface="Cambria Math" panose="02040503050406030204" pitchFamily="18" charset="0"/>
                      </a:rPr>
                      <m:t>3</m:t>
                    </m:r>
                  </m:oMath>
                </a14:m>
                <a:r>
                  <a:rPr lang="en-US" dirty="0"/>
                  <a:t> which is also </a:t>
                </a:r>
                <a:r>
                  <a:rPr lang="en-US" b="1" dirty="0"/>
                  <a:t>not statistically significant</a:t>
                </a:r>
                <a:r>
                  <a:rPr lang="en-US" dirty="0"/>
                  <a:t> meaning Average risk scores do not differ significantly across clusters.</a:t>
                </a:r>
              </a:p>
              <a:p>
                <a:endParaRPr lang="en-US" altLang="en-US" dirty="0">
                  <a:latin typeface="Arial" panose="020B0604020202020204" pitchFamily="34" charset="0"/>
                </a:endParaRPr>
              </a:p>
              <a:p>
                <a:endParaRPr lang="en-US" dirty="0"/>
              </a:p>
              <a:p>
                <a:endParaRPr lang="en-US" dirty="0"/>
              </a:p>
            </p:txBody>
          </p:sp>
        </mc:Choice>
        <mc:Fallback>
          <p:sp>
            <p:nvSpPr>
              <p:cNvPr id="3" name="Content Placeholder 2">
                <a:extLst>
                  <a:ext uri="{FF2B5EF4-FFF2-40B4-BE49-F238E27FC236}">
                    <a16:creationId xmlns:a16="http://schemas.microsoft.com/office/drawing/2014/main" id="{B1FEB45F-F562-06F5-32BF-FBB3E63953CC}"/>
                  </a:ext>
                </a:extLst>
              </p:cNvPr>
              <p:cNvSpPr>
                <a:spLocks noGrp="1" noRot="1" noChangeAspect="1" noMove="1" noResize="1" noEditPoints="1" noAdjustHandles="1" noChangeArrowheads="1" noChangeShapeType="1" noTextEdit="1"/>
              </p:cNvSpPr>
              <p:nvPr>
                <p:ph idx="1"/>
              </p:nvPr>
            </p:nvSpPr>
            <p:spPr>
              <a:xfrm>
                <a:off x="1676400" y="1574902"/>
                <a:ext cx="10515600" cy="4351338"/>
              </a:xfrm>
              <a:blipFill>
                <a:blip r:embed="rId2"/>
                <a:stretch>
                  <a:fillRect l="-232" t="-1401" r="-928"/>
                </a:stretch>
              </a:blipFill>
            </p:spPr>
            <p:txBody>
              <a:bodyPr/>
              <a:lstStyle/>
              <a:p>
                <a:r>
                  <a:rPr lang="en-US">
                    <a:noFill/>
                  </a:rPr>
                  <a:t> </a:t>
                </a:r>
              </a:p>
            </p:txBody>
          </p:sp>
        </mc:Fallback>
      </mc:AlternateContent>
    </p:spTree>
    <p:extLst>
      <p:ext uri="{BB962C8B-B14F-4D97-AF65-F5344CB8AC3E}">
        <p14:creationId xmlns:p14="http://schemas.microsoft.com/office/powerpoint/2010/main" val="4192358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34B2D-12CD-D49E-86FE-815E9930B3B2}"/>
              </a:ext>
            </a:extLst>
          </p:cNvPr>
          <p:cNvSpPr>
            <a:spLocks noGrp="1"/>
          </p:cNvSpPr>
          <p:nvPr>
            <p:ph type="title"/>
          </p:nvPr>
        </p:nvSpPr>
        <p:spPr/>
        <p:txBody>
          <a:bodyPr>
            <a:normAutofit fontScale="90000"/>
          </a:bodyPr>
          <a:lstStyle/>
          <a:p>
            <a:r>
              <a:rPr lang="en-US" b="1" dirty="0"/>
              <a:t>Task 7: Clinical Interpretation and Limitations</a:t>
            </a:r>
            <a:br>
              <a:rPr lang="en-US" b="1" dirty="0"/>
            </a:br>
            <a:br>
              <a:rPr lang="en-US" b="1" dirty="0"/>
            </a:br>
            <a:endParaRPr lang="en-US" dirty="0"/>
          </a:p>
        </p:txBody>
      </p:sp>
      <p:sp>
        <p:nvSpPr>
          <p:cNvPr id="3" name="Content Placeholder 2">
            <a:extLst>
              <a:ext uri="{FF2B5EF4-FFF2-40B4-BE49-F238E27FC236}">
                <a16:creationId xmlns:a16="http://schemas.microsoft.com/office/drawing/2014/main" id="{0067A0D2-2D17-BE2C-6349-B481FFB90E40}"/>
              </a:ext>
            </a:extLst>
          </p:cNvPr>
          <p:cNvSpPr>
            <a:spLocks noGrp="1"/>
          </p:cNvSpPr>
          <p:nvPr>
            <p:ph idx="1"/>
          </p:nvPr>
        </p:nvSpPr>
        <p:spPr/>
        <p:txBody>
          <a:bodyPr>
            <a:normAutofit fontScale="85000" lnSpcReduction="20000"/>
          </a:bodyPr>
          <a:lstStyle/>
          <a:p>
            <a:r>
              <a:rPr lang="en-US" b="1" dirty="0"/>
              <a:t>1. Key Clinical Insights</a:t>
            </a:r>
          </a:p>
          <a:p>
            <a:r>
              <a:rPr lang="en-US" b="1" dirty="0"/>
              <a:t>Clusters were primarily differentiated by systolic blood pressure, waist circumference, and fasting glucose</a:t>
            </a:r>
            <a:r>
              <a:rPr lang="en-US" dirty="0"/>
              <a:t>, indicating that hypertension, central obesity, and impaired glucose regulation are the strongest drivers of cardiometabolic patient stratification. Patients in high-risk clusters may benefit from early lifestyle intervention and routine cardiovascular monitoring.</a:t>
            </a:r>
          </a:p>
          <a:p>
            <a:r>
              <a:rPr lang="en-US" b="1" dirty="0"/>
              <a:t>Some smaller clusters showed extreme biomarker profiles, particularly very high systolic blood pressure</a:t>
            </a:r>
            <a:r>
              <a:rPr lang="en-US" dirty="0"/>
              <a:t>, indicating potentially severe or atypical clinical presentations. These patients may require closer clinical evaluation, aggressive blood pressure management, and individualized treatment strategies.</a:t>
            </a:r>
          </a:p>
          <a:p>
            <a:r>
              <a:rPr lang="en-US" dirty="0"/>
              <a:t>One major limitation of K-means </a:t>
            </a:r>
            <a:r>
              <a:rPr lang="en-US"/>
              <a:t>clustering  </a:t>
            </a:r>
            <a:r>
              <a:rPr lang="en-US" dirty="0"/>
              <a:t>is that it assumes clusters are spherical and equally distributed in feature space. Medical data are often highly complex, nonlinear, and overlapping, meaning real patient phenotypes may not follow these assumptions. Additionally, clustering results are highly sensitive to feature scaling, outliers, and the selected number of clusters (k), which can affect the stability and interpretability of the identified groups.</a:t>
            </a:r>
          </a:p>
        </p:txBody>
      </p:sp>
    </p:spTree>
    <p:extLst>
      <p:ext uri="{BB962C8B-B14F-4D97-AF65-F5344CB8AC3E}">
        <p14:creationId xmlns:p14="http://schemas.microsoft.com/office/powerpoint/2010/main" val="261619173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447</TotalTime>
  <Words>1345</Words>
  <Application>Microsoft Office PowerPoint</Application>
  <PresentationFormat>Widescreen</PresentationFormat>
  <Paragraphs>185</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Cambria Math</vt:lpstr>
      <vt:lpstr>Century Gothic</vt:lpstr>
      <vt:lpstr>Wingdings 3</vt:lpstr>
      <vt:lpstr>Ion</vt:lpstr>
      <vt:lpstr>Capstone Project: Unsupervised Learning Report</vt:lpstr>
      <vt:lpstr>Project Overview</vt:lpstr>
      <vt:lpstr>Task 1: Data Import and Initial Exploration</vt:lpstr>
      <vt:lpstr>Task 2 : Data Preprocessing</vt:lpstr>
      <vt:lpstr>Outlier Treatment  and Feature Scaling</vt:lpstr>
      <vt:lpstr>Task 3: Exploratory Data Visualization</vt:lpstr>
      <vt:lpstr>Task 4 : Principal Component Analysis</vt:lpstr>
      <vt:lpstr>Cumulative Variance</vt:lpstr>
      <vt:lpstr>PCA biplot of PC1 vs. PC2 with variable loadings as arrows</vt:lpstr>
      <vt:lpstr>Task 5: K-means Clustering Implementation </vt:lpstr>
      <vt:lpstr>Cluster Characterization</vt:lpstr>
      <vt:lpstr>Cluster 1</vt:lpstr>
      <vt:lpstr>Cluster 2</vt:lpstr>
      <vt:lpstr>Cluster 3</vt:lpstr>
      <vt:lpstr>Cluster 4</vt:lpstr>
      <vt:lpstr>Cluster 5</vt:lpstr>
      <vt:lpstr>External Validation</vt:lpstr>
      <vt:lpstr>Task 7: Clinical Interpretation and Limitations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5</cp:revision>
  <dcterms:created xsi:type="dcterms:W3CDTF">2026-05-03T09:19:13Z</dcterms:created>
  <dcterms:modified xsi:type="dcterms:W3CDTF">2026-05-20T06:32:37Z</dcterms:modified>
</cp:coreProperties>
</file>