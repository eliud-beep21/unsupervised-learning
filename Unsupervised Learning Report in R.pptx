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1" r:id="rId1"/>
  </p:sldMasterIdLst>
  <p:sldIdLst>
    <p:sldId id="256" r:id="rId2"/>
    <p:sldId id="258" r:id="rId3"/>
    <p:sldId id="257" r:id="rId4"/>
    <p:sldId id="259" r:id="rId5"/>
    <p:sldId id="260" r:id="rId6"/>
    <p:sldId id="261" r:id="rId7"/>
    <p:sldId id="262" r:id="rId8"/>
    <p:sldId id="264" r:id="rId9"/>
    <p:sldId id="263"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1249793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106905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3622172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A8F736-8F40-4DCF-8B1C-0B2F7CF0CC7F}"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021197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A8F736-8F40-4DCF-8B1C-0B2F7CF0CC7F}"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155197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A8F736-8F40-4DCF-8B1C-0B2F7CF0CC7F}"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36935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A8F736-8F40-4DCF-8B1C-0B2F7CF0CC7F}"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419896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A8F736-8F40-4DCF-8B1C-0B2F7CF0CC7F}"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341334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A8F736-8F40-4DCF-8B1C-0B2F7CF0CC7F}"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160981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949482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9859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004473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8747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2085900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3517057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A8F736-8F40-4DCF-8B1C-0B2F7CF0CC7F}"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D7A235-1A39-4A58-AC34-A8D3882E120C}" type="slidenum">
              <a:rPr lang="en-US" smtClean="0"/>
              <a:t>‹#›</a:t>
            </a:fld>
            <a:endParaRPr lang="en-US"/>
          </a:p>
        </p:txBody>
      </p:sp>
    </p:spTree>
    <p:extLst>
      <p:ext uri="{BB962C8B-B14F-4D97-AF65-F5344CB8AC3E}">
        <p14:creationId xmlns:p14="http://schemas.microsoft.com/office/powerpoint/2010/main" val="309901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A8F736-8F40-4DCF-8B1C-0B2F7CF0CC7F}" type="datetimeFigureOut">
              <a:rPr lang="en-US" smtClean="0"/>
              <a:t>4/20/2026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D7A235-1A39-4A58-AC34-A8D3882E120C}" type="slidenum">
              <a:rPr lang="en-US" smtClean="0"/>
              <a:t>‹#›</a:t>
            </a:fld>
            <a:endParaRPr lang="en-US"/>
          </a:p>
        </p:txBody>
      </p:sp>
    </p:spTree>
    <p:extLst>
      <p:ext uri="{BB962C8B-B14F-4D97-AF65-F5344CB8AC3E}">
        <p14:creationId xmlns:p14="http://schemas.microsoft.com/office/powerpoint/2010/main" val="2029664058"/>
      </p:ext>
    </p:extLst>
  </p:cSld>
  <p:clrMap bg1="dk1" tx1="lt1" bg2="dk2" tx2="lt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8008-50C5-D769-82F3-96D1D7B0C2FE}"/>
              </a:ext>
            </a:extLst>
          </p:cNvPr>
          <p:cNvSpPr>
            <a:spLocks noGrp="1"/>
          </p:cNvSpPr>
          <p:nvPr>
            <p:ph type="ctrTitle"/>
          </p:nvPr>
        </p:nvSpPr>
        <p:spPr/>
        <p:txBody>
          <a:bodyPr>
            <a:normAutofit fontScale="90000"/>
          </a:bodyPr>
          <a:lstStyle/>
          <a:p>
            <a:r>
              <a:rPr lang="en-US" dirty="0"/>
              <a:t>ML Assignment 4</a:t>
            </a:r>
            <a:br>
              <a:rPr lang="en-US" dirty="0"/>
            </a:br>
            <a:r>
              <a:rPr lang="en-US" dirty="0"/>
              <a:t>Unsupervised Learning : K-means Clustering and PCA</a:t>
            </a:r>
          </a:p>
        </p:txBody>
      </p:sp>
      <p:sp>
        <p:nvSpPr>
          <p:cNvPr id="3" name="Subtitle 2">
            <a:extLst>
              <a:ext uri="{FF2B5EF4-FFF2-40B4-BE49-F238E27FC236}">
                <a16:creationId xmlns:a16="http://schemas.microsoft.com/office/drawing/2014/main" id="{83B14986-84C5-5A02-06D1-E79E3A3BB4B6}"/>
              </a:ext>
            </a:extLst>
          </p:cNvPr>
          <p:cNvSpPr>
            <a:spLocks noGrp="1"/>
          </p:cNvSpPr>
          <p:nvPr>
            <p:ph type="subTitle" idx="1"/>
          </p:nvPr>
        </p:nvSpPr>
        <p:spPr/>
        <p:txBody>
          <a:bodyPr/>
          <a:lstStyle/>
          <a:p>
            <a:r>
              <a:rPr lang="en-US" dirty="0"/>
              <a:t>Authored by DS MULE</a:t>
            </a:r>
          </a:p>
        </p:txBody>
      </p:sp>
    </p:spTree>
    <p:extLst>
      <p:ext uri="{BB962C8B-B14F-4D97-AF65-F5344CB8AC3E}">
        <p14:creationId xmlns:p14="http://schemas.microsoft.com/office/powerpoint/2010/main" val="4035097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287AF-2530-D092-83B0-45620FD8590A}"/>
              </a:ext>
            </a:extLst>
          </p:cNvPr>
          <p:cNvSpPr>
            <a:spLocks noGrp="1"/>
          </p:cNvSpPr>
          <p:nvPr>
            <p:ph type="title"/>
          </p:nvPr>
        </p:nvSpPr>
        <p:spPr/>
        <p:txBody>
          <a:bodyPr/>
          <a:lstStyle/>
          <a:p>
            <a:r>
              <a:rPr lang="en-US" dirty="0"/>
              <a:t>Assignment Overview</a:t>
            </a:r>
          </a:p>
        </p:txBody>
      </p:sp>
      <p:sp>
        <p:nvSpPr>
          <p:cNvPr id="3" name="Content Placeholder 2">
            <a:extLst>
              <a:ext uri="{FF2B5EF4-FFF2-40B4-BE49-F238E27FC236}">
                <a16:creationId xmlns:a16="http://schemas.microsoft.com/office/drawing/2014/main" id="{4B00B811-C149-14FB-BACB-13F54DEAA08F}"/>
              </a:ext>
            </a:extLst>
          </p:cNvPr>
          <p:cNvSpPr>
            <a:spLocks noGrp="1"/>
          </p:cNvSpPr>
          <p:nvPr>
            <p:ph idx="1"/>
          </p:nvPr>
        </p:nvSpPr>
        <p:spPr/>
        <p:txBody>
          <a:bodyPr/>
          <a:lstStyle/>
          <a:p>
            <a:r>
              <a:rPr lang="en-US" dirty="0"/>
              <a:t>Apply K-Means clustering to discover natural groupings in ecological data</a:t>
            </a:r>
          </a:p>
          <a:p>
            <a:r>
              <a:rPr lang="en-US" dirty="0"/>
              <a:t>  Use elbow method and silhouette analysis to determine optimal number of clusters</a:t>
            </a:r>
          </a:p>
          <a:p>
            <a:r>
              <a:rPr lang="en-US" dirty="0"/>
              <a:t>  Perform Principal Component Analysis (PCA) for dimensionality reduction </a:t>
            </a:r>
          </a:p>
          <a:p>
            <a:r>
              <a:rPr lang="en-US" dirty="0"/>
              <a:t> Interpret PCA loadings, scree plots, and biplots</a:t>
            </a:r>
          </a:p>
          <a:p>
            <a:r>
              <a:rPr lang="en-US" dirty="0"/>
              <a:t>  Combine K-Means and PCA for enhanced cluster visualization </a:t>
            </a:r>
          </a:p>
          <a:p>
            <a:r>
              <a:rPr lang="en-US" dirty="0"/>
              <a:t> Evaluate clustering quality using internal validation metric</a:t>
            </a:r>
          </a:p>
        </p:txBody>
      </p:sp>
    </p:spTree>
    <p:extLst>
      <p:ext uri="{BB962C8B-B14F-4D97-AF65-F5344CB8AC3E}">
        <p14:creationId xmlns:p14="http://schemas.microsoft.com/office/powerpoint/2010/main" val="1621980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D7DFD-C610-5AA9-2B77-0D339157F4E4}"/>
              </a:ext>
            </a:extLst>
          </p:cNvPr>
          <p:cNvSpPr>
            <a:spLocks noGrp="1"/>
          </p:cNvSpPr>
          <p:nvPr>
            <p:ph type="title"/>
          </p:nvPr>
        </p:nvSpPr>
        <p:spPr/>
        <p:txBody>
          <a:bodyPr/>
          <a:lstStyle/>
          <a:p>
            <a:r>
              <a:rPr lang="en-US" dirty="0"/>
              <a:t>Data Import and Exploration</a:t>
            </a:r>
          </a:p>
        </p:txBody>
      </p:sp>
      <p:sp>
        <p:nvSpPr>
          <p:cNvPr id="3" name="Content Placeholder 2">
            <a:extLst>
              <a:ext uri="{FF2B5EF4-FFF2-40B4-BE49-F238E27FC236}">
                <a16:creationId xmlns:a16="http://schemas.microsoft.com/office/drawing/2014/main" id="{AD8DF555-C4CF-708E-EF7E-0925F20DAE1F}"/>
              </a:ext>
            </a:extLst>
          </p:cNvPr>
          <p:cNvSpPr>
            <a:spLocks noGrp="1"/>
          </p:cNvSpPr>
          <p:nvPr>
            <p:ph idx="1"/>
          </p:nvPr>
        </p:nvSpPr>
        <p:spPr/>
        <p:txBody>
          <a:bodyPr>
            <a:normAutofit/>
          </a:bodyPr>
          <a:lstStyle/>
          <a:p>
            <a:r>
              <a:rPr lang="en-US" dirty="0"/>
              <a:t>The penguins dataset contains 344 observations and 8 variables.</a:t>
            </a:r>
          </a:p>
          <a:p>
            <a:r>
              <a:rPr lang="en-US" dirty="0"/>
              <a:t>This assignment only uses morphological variables for unsupervised pattern category.</a:t>
            </a:r>
          </a:p>
          <a:p>
            <a:r>
              <a:rPr lang="en-US" dirty="0"/>
              <a:t>After checking for missing </a:t>
            </a:r>
            <a:r>
              <a:rPr lang="en-US" dirty="0" err="1"/>
              <a:t>values,there</a:t>
            </a:r>
            <a:r>
              <a:rPr lang="en-US" dirty="0"/>
              <a:t> were 19 missing values in the dataset, which were dealt by removing them.</a:t>
            </a:r>
          </a:p>
          <a:p>
            <a:r>
              <a:rPr lang="en-US" dirty="0"/>
              <a:t> The original dataset had 344 observations and 8 variables. After removing rows with missing values, we are left with 333 complete observations for analysis. This indicates that the majority of the data is intact, and we can proceed with our clustering and PCA analysis without significant loss of information.</a:t>
            </a:r>
          </a:p>
        </p:txBody>
      </p:sp>
    </p:spTree>
    <p:extLst>
      <p:ext uri="{BB962C8B-B14F-4D97-AF65-F5344CB8AC3E}">
        <p14:creationId xmlns:p14="http://schemas.microsoft.com/office/powerpoint/2010/main" val="3692434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F7A4D-E887-84A5-1323-D679EAFA62FC}"/>
              </a:ext>
            </a:extLst>
          </p:cNvPr>
          <p:cNvSpPr>
            <a:spLocks noGrp="1"/>
          </p:cNvSpPr>
          <p:nvPr>
            <p:ph type="title"/>
          </p:nvPr>
        </p:nvSpPr>
        <p:spPr/>
        <p:txBody>
          <a:bodyPr/>
          <a:lstStyle/>
          <a:p>
            <a:r>
              <a:rPr lang="en-US" dirty="0"/>
              <a:t>Task 2 : Data Preprocessing</a:t>
            </a:r>
          </a:p>
        </p:txBody>
      </p:sp>
      <p:sp>
        <p:nvSpPr>
          <p:cNvPr id="3" name="Content Placeholder 2">
            <a:extLst>
              <a:ext uri="{FF2B5EF4-FFF2-40B4-BE49-F238E27FC236}">
                <a16:creationId xmlns:a16="http://schemas.microsoft.com/office/drawing/2014/main" id="{D00DFB64-7562-1DB9-52B3-730D5157915C}"/>
              </a:ext>
            </a:extLst>
          </p:cNvPr>
          <p:cNvSpPr>
            <a:spLocks noGrp="1"/>
          </p:cNvSpPr>
          <p:nvPr>
            <p:ph idx="1"/>
          </p:nvPr>
        </p:nvSpPr>
        <p:spPr/>
        <p:txBody>
          <a:bodyPr>
            <a:normAutofit/>
          </a:bodyPr>
          <a:lstStyle/>
          <a:p>
            <a:r>
              <a:rPr lang="en-US" dirty="0"/>
              <a:t> I  selected the numeric columns (</a:t>
            </a:r>
            <a:r>
              <a:rPr lang="en-US" dirty="0" err="1"/>
              <a:t>bill_length_mm</a:t>
            </a:r>
            <a:r>
              <a:rPr lang="en-US" dirty="0"/>
              <a:t>, </a:t>
            </a:r>
            <a:r>
              <a:rPr lang="en-US" dirty="0" err="1"/>
              <a:t>bill_depth_mm</a:t>
            </a:r>
            <a:r>
              <a:rPr lang="en-US" dirty="0"/>
              <a:t>, </a:t>
            </a:r>
            <a:r>
              <a:rPr lang="en-US" dirty="0" err="1"/>
              <a:t>flipper_length_mm</a:t>
            </a:r>
            <a:r>
              <a:rPr lang="en-US" dirty="0"/>
              <a:t>, </a:t>
            </a:r>
            <a:r>
              <a:rPr lang="en-US" dirty="0" err="1"/>
              <a:t>body_mass_g</a:t>
            </a:r>
            <a:r>
              <a:rPr lang="en-US" dirty="0"/>
              <a:t>) for clustering analysis, as these variables are relevant for distinguishing between penguin species based on their morphological characteristics.</a:t>
            </a:r>
          </a:p>
          <a:p>
            <a:r>
              <a:rPr lang="en-US" dirty="0"/>
              <a:t>Scaling was then done :  Scaling the data ensures that all variables contribute equally to the clustering process, preventing any single variable from dominating due to its scale. This is crucial for distance-based algorithms like K-Means, which rely on the magnitude of the data.</a:t>
            </a:r>
          </a:p>
          <a:p>
            <a:r>
              <a:rPr lang="en-US" dirty="0"/>
              <a:t>Scaling was then verified:  The mean of each scaled variable is close to 0, and the standard deviation is close to 1, indicating that the scaling process was successful. This ensures that all variables contribute equally to the clustering process, preventing any single variable from dominating due to its scale.</a:t>
            </a:r>
          </a:p>
          <a:p>
            <a:endParaRPr lang="en-US" dirty="0"/>
          </a:p>
        </p:txBody>
      </p:sp>
    </p:spTree>
    <p:extLst>
      <p:ext uri="{BB962C8B-B14F-4D97-AF65-F5344CB8AC3E}">
        <p14:creationId xmlns:p14="http://schemas.microsoft.com/office/powerpoint/2010/main" val="261115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1599-05EF-4F6F-AEC8-A00A9A016848}"/>
              </a:ext>
            </a:extLst>
          </p:cNvPr>
          <p:cNvSpPr>
            <a:spLocks noGrp="1"/>
          </p:cNvSpPr>
          <p:nvPr>
            <p:ph type="title"/>
          </p:nvPr>
        </p:nvSpPr>
        <p:spPr/>
        <p:txBody>
          <a:bodyPr/>
          <a:lstStyle/>
          <a:p>
            <a:r>
              <a:rPr lang="en-US" dirty="0"/>
              <a:t>Task 3 : Exploratory Data Visualization</a:t>
            </a:r>
          </a:p>
        </p:txBody>
      </p:sp>
      <p:sp>
        <p:nvSpPr>
          <p:cNvPr id="3" name="Content Placeholder 2">
            <a:extLst>
              <a:ext uri="{FF2B5EF4-FFF2-40B4-BE49-F238E27FC236}">
                <a16:creationId xmlns:a16="http://schemas.microsoft.com/office/drawing/2014/main" id="{0C0B53BC-2D94-C5A5-3653-7ECD16DECBEE}"/>
              </a:ext>
            </a:extLst>
          </p:cNvPr>
          <p:cNvSpPr>
            <a:spLocks noGrp="1"/>
          </p:cNvSpPr>
          <p:nvPr>
            <p:ph idx="1"/>
          </p:nvPr>
        </p:nvSpPr>
        <p:spPr/>
        <p:txBody>
          <a:bodyPr>
            <a:normAutofit fontScale="92500" lnSpcReduction="20000"/>
          </a:bodyPr>
          <a:lstStyle/>
          <a:p>
            <a:r>
              <a:rPr lang="en-US" dirty="0"/>
              <a:t>Pairs plot (scatterplot matrix) of the four scaled numeric variables, colored by the original species variable (for reference only)were generated.</a:t>
            </a:r>
          </a:p>
          <a:p>
            <a:r>
              <a:rPr lang="en-US" dirty="0"/>
              <a:t>Boxplots for each numeric variable grouped by species to visualize between species differences were also plotted. </a:t>
            </a:r>
          </a:p>
          <a:p>
            <a:r>
              <a:rPr lang="en-US" dirty="0"/>
              <a:t> The boxplots show that there are clear differences in the distributions of the numeric variables across the three penguin species. For example, the Adelie species tends to have shorter bill lengths  compared to the Gentoo and Chinstrap species. The Gentoo species generally has longer flipper lengths and higher body mass compared to the other two species. These differences suggest that the numeric variables may be useful for distinguishing between the penguin species, which is important for clustering and classification tasks.</a:t>
            </a:r>
          </a:p>
          <a:p>
            <a:r>
              <a:rPr lang="en-US" dirty="0"/>
              <a:t>Correlation matrix was then computed : </a:t>
            </a:r>
            <a:r>
              <a:rPr lang="en-US" dirty="0" err="1"/>
              <a:t>flipper_length_mm</a:t>
            </a:r>
            <a:r>
              <a:rPr lang="en-US" dirty="0"/>
              <a:t> - </a:t>
            </a:r>
            <a:r>
              <a:rPr lang="en-US" dirty="0" err="1"/>
              <a:t>body_mass_g</a:t>
            </a:r>
            <a:r>
              <a:rPr lang="en-US" dirty="0"/>
              <a:t> (0.873) had the highest correlation.</a:t>
            </a:r>
          </a:p>
          <a:p>
            <a:r>
              <a:rPr lang="en-US" dirty="0" err="1"/>
              <a:t>bill_depth_mm</a:t>
            </a:r>
            <a:r>
              <a:rPr lang="en-US" dirty="0"/>
              <a:t>, </a:t>
            </a:r>
            <a:r>
              <a:rPr lang="en-US" dirty="0" err="1"/>
              <a:t>flipper_length_mm</a:t>
            </a:r>
            <a:r>
              <a:rPr lang="en-US" dirty="0"/>
              <a:t> and </a:t>
            </a:r>
            <a:r>
              <a:rPr lang="en-US" dirty="0" err="1"/>
              <a:t>bill_length_mm</a:t>
            </a:r>
            <a:r>
              <a:rPr lang="en-US" dirty="0"/>
              <a:t> variables seem the best for distinguishing groups due to their low correlation.</a:t>
            </a:r>
          </a:p>
          <a:p>
            <a:endParaRPr lang="en-US" dirty="0"/>
          </a:p>
          <a:p>
            <a:endParaRPr lang="en-US" dirty="0"/>
          </a:p>
        </p:txBody>
      </p:sp>
    </p:spTree>
    <p:extLst>
      <p:ext uri="{BB962C8B-B14F-4D97-AF65-F5344CB8AC3E}">
        <p14:creationId xmlns:p14="http://schemas.microsoft.com/office/powerpoint/2010/main" val="242384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B4A0-6B17-C581-F2DE-4FD65568E7C9}"/>
              </a:ext>
            </a:extLst>
          </p:cNvPr>
          <p:cNvSpPr>
            <a:spLocks noGrp="1"/>
          </p:cNvSpPr>
          <p:nvPr>
            <p:ph type="title"/>
          </p:nvPr>
        </p:nvSpPr>
        <p:spPr/>
        <p:txBody>
          <a:bodyPr/>
          <a:lstStyle/>
          <a:p>
            <a:r>
              <a:rPr lang="en-US" dirty="0"/>
              <a:t>Task 4: K-Means: Finding Optimal K </a:t>
            </a:r>
          </a:p>
        </p:txBody>
      </p:sp>
      <p:sp>
        <p:nvSpPr>
          <p:cNvPr id="3" name="Content Placeholder 2">
            <a:extLst>
              <a:ext uri="{FF2B5EF4-FFF2-40B4-BE49-F238E27FC236}">
                <a16:creationId xmlns:a16="http://schemas.microsoft.com/office/drawing/2014/main" id="{FC79DC07-954C-CFBE-B328-55BCFB4049ED}"/>
              </a:ext>
            </a:extLst>
          </p:cNvPr>
          <p:cNvSpPr>
            <a:spLocks noGrp="1"/>
          </p:cNvSpPr>
          <p:nvPr>
            <p:ph idx="1"/>
          </p:nvPr>
        </p:nvSpPr>
        <p:spPr/>
        <p:txBody>
          <a:bodyPr>
            <a:normAutofit/>
          </a:bodyPr>
          <a:lstStyle/>
          <a:p>
            <a:r>
              <a:rPr lang="en-US" dirty="0"/>
              <a:t>The elbow plot shows a sharp decrease in WSS up to k = 2, after which the rate of decrease slows, indicating a potential elbow at k = 2 or 3.</a:t>
            </a:r>
          </a:p>
          <a:p>
            <a:r>
              <a:rPr lang="en-US" dirty="0"/>
              <a:t>The silhouette analysis shows the highest average silhouette width at k = 2, indicating the best cluster separation.</a:t>
            </a:r>
          </a:p>
          <a:p>
            <a:r>
              <a:rPr lang="en-US" dirty="0"/>
              <a:t>Based on both methods, the optimal number of clusters is </a:t>
            </a:r>
            <a:r>
              <a:rPr lang="en-US" b="1" dirty="0"/>
              <a:t>k = 2</a:t>
            </a:r>
            <a:r>
              <a:rPr lang="en-US" dirty="0"/>
              <a:t>, as it balances compactness and separation.</a:t>
            </a:r>
          </a:p>
          <a:p>
            <a:r>
              <a:rPr lang="en-US" dirty="0"/>
              <a:t>For k = 2:</a:t>
            </a:r>
          </a:p>
          <a:p>
            <a:r>
              <a:rPr lang="en-US" dirty="0"/>
              <a:t>Total WSS = </a:t>
            </a:r>
            <a:r>
              <a:rPr lang="en-US" b="1" dirty="0"/>
              <a:t>570 (approx.)</a:t>
            </a:r>
            <a:r>
              <a:rPr lang="en-US" dirty="0"/>
              <a:t> </a:t>
            </a:r>
          </a:p>
          <a:p>
            <a:r>
              <a:rPr lang="en-US" dirty="0"/>
              <a:t>Average silhouette width = </a:t>
            </a:r>
            <a:r>
              <a:rPr lang="en-US" b="1" dirty="0"/>
              <a:t>0.55</a:t>
            </a:r>
            <a:endParaRPr lang="en-US" dirty="0"/>
          </a:p>
          <a:p>
            <a:endParaRPr lang="en-US" dirty="0"/>
          </a:p>
        </p:txBody>
      </p:sp>
    </p:spTree>
    <p:extLst>
      <p:ext uri="{BB962C8B-B14F-4D97-AF65-F5344CB8AC3E}">
        <p14:creationId xmlns:p14="http://schemas.microsoft.com/office/powerpoint/2010/main" val="225996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FA4D-1F6E-1C3A-FD3B-CDEB1C550F82}"/>
              </a:ext>
            </a:extLst>
          </p:cNvPr>
          <p:cNvSpPr>
            <a:spLocks noGrp="1"/>
          </p:cNvSpPr>
          <p:nvPr>
            <p:ph type="title"/>
          </p:nvPr>
        </p:nvSpPr>
        <p:spPr/>
        <p:txBody>
          <a:bodyPr/>
          <a:lstStyle/>
          <a:p>
            <a:r>
              <a:rPr lang="en-US" dirty="0"/>
              <a:t>Task 5: K-Means: Model Fitting and Cluster Profiling </a:t>
            </a:r>
          </a:p>
        </p:txBody>
      </p:sp>
      <p:sp>
        <p:nvSpPr>
          <p:cNvPr id="3" name="Content Placeholder 2">
            <a:extLst>
              <a:ext uri="{FF2B5EF4-FFF2-40B4-BE49-F238E27FC236}">
                <a16:creationId xmlns:a16="http://schemas.microsoft.com/office/drawing/2014/main" id="{9DFB50DB-62D2-2E07-728F-2EDA94A9995D}"/>
              </a:ext>
            </a:extLst>
          </p:cNvPr>
          <p:cNvSpPr>
            <a:spLocks noGrp="1"/>
          </p:cNvSpPr>
          <p:nvPr>
            <p:ph idx="1"/>
          </p:nvPr>
        </p:nvSpPr>
        <p:spPr/>
        <p:txBody>
          <a:bodyPr>
            <a:normAutofit fontScale="92500" lnSpcReduction="20000"/>
          </a:bodyPr>
          <a:lstStyle/>
          <a:p>
            <a:r>
              <a:rPr lang="en-US" dirty="0"/>
              <a:t>The K-Means clustering algorithm was applied with </a:t>
            </a:r>
            <a:r>
              <a:rPr lang="en-US" b="1" dirty="0"/>
              <a:t>k = 2</a:t>
            </a:r>
            <a:r>
              <a:rPr lang="en-US" dirty="0"/>
              <a:t> and </a:t>
            </a:r>
            <a:r>
              <a:rPr lang="en-US" b="1" dirty="0" err="1"/>
              <a:t>nstart</a:t>
            </a:r>
            <a:r>
              <a:rPr lang="en-US" b="1" dirty="0"/>
              <a:t> = 25</a:t>
            </a:r>
            <a:r>
              <a:rPr lang="en-US" dirty="0"/>
              <a:t>, resulting in two well-defined clusters of sizes </a:t>
            </a:r>
            <a:r>
              <a:rPr lang="en-US" b="1" dirty="0"/>
              <a:t>119</a:t>
            </a:r>
            <a:r>
              <a:rPr lang="en-US" dirty="0"/>
              <a:t> and </a:t>
            </a:r>
            <a:r>
              <a:rPr lang="en-US" b="1" dirty="0"/>
              <a:t>214</a:t>
            </a:r>
            <a:r>
              <a:rPr lang="en-US" dirty="0"/>
              <a:t>.</a:t>
            </a:r>
          </a:p>
          <a:p>
            <a:r>
              <a:rPr lang="en-US" b="1" dirty="0"/>
              <a:t>Cluster Characteristics</a:t>
            </a:r>
          </a:p>
          <a:p>
            <a:r>
              <a:rPr lang="en-US" b="1" dirty="0"/>
              <a:t>Cluster 1 (n = 119):</a:t>
            </a:r>
            <a:endParaRPr lang="en-US" dirty="0"/>
          </a:p>
          <a:p>
            <a:r>
              <a:rPr lang="en-US" dirty="0"/>
              <a:t>Higher </a:t>
            </a:r>
            <a:r>
              <a:rPr lang="en-US" b="1" dirty="0"/>
              <a:t>bill length</a:t>
            </a:r>
            <a:r>
              <a:rPr lang="en-US" dirty="0"/>
              <a:t> (47.57 mm) </a:t>
            </a:r>
          </a:p>
          <a:p>
            <a:r>
              <a:rPr lang="en-US" dirty="0"/>
              <a:t>Lower </a:t>
            </a:r>
            <a:r>
              <a:rPr lang="en-US" b="1" dirty="0"/>
              <a:t>bill depth</a:t>
            </a:r>
            <a:r>
              <a:rPr lang="en-US" dirty="0"/>
              <a:t> (14.99 mm) </a:t>
            </a:r>
          </a:p>
          <a:p>
            <a:r>
              <a:rPr lang="en-US" dirty="0"/>
              <a:t>Much longer </a:t>
            </a:r>
            <a:r>
              <a:rPr lang="en-US" b="1" dirty="0"/>
              <a:t>flipper length</a:t>
            </a:r>
            <a:r>
              <a:rPr lang="en-US" dirty="0"/>
              <a:t> (217.24 mm) </a:t>
            </a:r>
          </a:p>
          <a:p>
            <a:r>
              <a:rPr lang="en-US" dirty="0"/>
              <a:t>Significantly higher </a:t>
            </a:r>
            <a:r>
              <a:rPr lang="en-US" b="1" dirty="0"/>
              <a:t>body mass</a:t>
            </a:r>
            <a:r>
              <a:rPr lang="en-US" dirty="0"/>
              <a:t> (5092.44 g) </a:t>
            </a:r>
          </a:p>
          <a:p>
            <a:r>
              <a:rPr lang="en-US" dirty="0"/>
              <a:t>Dominant species: </a:t>
            </a:r>
            <a:r>
              <a:rPr lang="en-US" b="1" dirty="0"/>
              <a:t>Gentoo</a:t>
            </a:r>
            <a:r>
              <a:rPr lang="en-US" dirty="0"/>
              <a:t> </a:t>
            </a:r>
          </a:p>
          <a:p>
            <a:r>
              <a:rPr lang="en-US" dirty="0"/>
              <a:t> This cluster represents </a:t>
            </a:r>
            <a:r>
              <a:rPr lang="en-US" b="1" dirty="0"/>
              <a:t>larger penguins</a:t>
            </a:r>
            <a:r>
              <a:rPr lang="en-US" dirty="0"/>
              <a:t> with longer flippers and greater body mass. The lower bill depth and longer bill length further distinguish this group. These characteristics are consistent with </a:t>
            </a:r>
            <a:r>
              <a:rPr lang="en-US" b="1" dirty="0"/>
              <a:t>Gentoo penguins</a:t>
            </a:r>
            <a:r>
              <a:rPr lang="en-US" dirty="0"/>
              <a:t>, which are known to be the largest among the species in the dataset.</a:t>
            </a:r>
          </a:p>
          <a:p>
            <a:endParaRPr lang="en-US" dirty="0"/>
          </a:p>
        </p:txBody>
      </p:sp>
    </p:spTree>
    <p:extLst>
      <p:ext uri="{BB962C8B-B14F-4D97-AF65-F5344CB8AC3E}">
        <p14:creationId xmlns:p14="http://schemas.microsoft.com/office/powerpoint/2010/main" val="3400381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627C-4A0F-55F4-B3C3-541770A49DE6}"/>
              </a:ext>
            </a:extLst>
          </p:cNvPr>
          <p:cNvSpPr>
            <a:spLocks noGrp="1"/>
          </p:cNvSpPr>
          <p:nvPr>
            <p:ph type="title"/>
          </p:nvPr>
        </p:nvSpPr>
        <p:spPr/>
        <p:txBody>
          <a:bodyPr/>
          <a:lstStyle/>
          <a:p>
            <a:r>
              <a:rPr lang="en-US" dirty="0"/>
              <a:t>Cluster 2</a:t>
            </a:r>
          </a:p>
        </p:txBody>
      </p:sp>
      <p:sp>
        <p:nvSpPr>
          <p:cNvPr id="3" name="Content Placeholder 2">
            <a:extLst>
              <a:ext uri="{FF2B5EF4-FFF2-40B4-BE49-F238E27FC236}">
                <a16:creationId xmlns:a16="http://schemas.microsoft.com/office/drawing/2014/main" id="{76850CE2-87B9-0099-6A7F-237CEAF24A75}"/>
              </a:ext>
            </a:extLst>
          </p:cNvPr>
          <p:cNvSpPr>
            <a:spLocks noGrp="1"/>
          </p:cNvSpPr>
          <p:nvPr>
            <p:ph idx="1"/>
          </p:nvPr>
        </p:nvSpPr>
        <p:spPr/>
        <p:txBody>
          <a:bodyPr>
            <a:normAutofit fontScale="92500" lnSpcReduction="20000"/>
          </a:bodyPr>
          <a:lstStyle/>
          <a:p>
            <a:r>
              <a:rPr lang="en-US" b="1" dirty="0"/>
              <a:t>Cluster 2 (n = 214):</a:t>
            </a:r>
            <a:endParaRPr lang="en-US" dirty="0"/>
          </a:p>
          <a:p>
            <a:r>
              <a:rPr lang="en-US" dirty="0"/>
              <a:t>Lower </a:t>
            </a:r>
            <a:r>
              <a:rPr lang="en-US" b="1" dirty="0"/>
              <a:t>bill length</a:t>
            </a:r>
            <a:r>
              <a:rPr lang="en-US" dirty="0"/>
              <a:t> (42.00 mm) </a:t>
            </a:r>
          </a:p>
          <a:p>
            <a:r>
              <a:rPr lang="en-US" dirty="0"/>
              <a:t>Higher </a:t>
            </a:r>
            <a:r>
              <a:rPr lang="en-US" b="1" dirty="0"/>
              <a:t>bill depth</a:t>
            </a:r>
            <a:r>
              <a:rPr lang="en-US" dirty="0"/>
              <a:t> (18.37 mm) </a:t>
            </a:r>
          </a:p>
          <a:p>
            <a:r>
              <a:rPr lang="en-US" dirty="0"/>
              <a:t>Shorter </a:t>
            </a:r>
            <a:r>
              <a:rPr lang="en-US" b="1" dirty="0"/>
              <a:t>flipper length</a:t>
            </a:r>
            <a:r>
              <a:rPr lang="en-US" dirty="0"/>
              <a:t> (191.92 mm) </a:t>
            </a:r>
          </a:p>
          <a:p>
            <a:r>
              <a:rPr lang="en-US" dirty="0"/>
              <a:t>Lower </a:t>
            </a:r>
            <a:r>
              <a:rPr lang="en-US" b="1" dirty="0"/>
              <a:t>body mass</a:t>
            </a:r>
            <a:r>
              <a:rPr lang="en-US" dirty="0"/>
              <a:t> (3714.72 g) </a:t>
            </a:r>
          </a:p>
          <a:p>
            <a:r>
              <a:rPr lang="en-US" dirty="0"/>
              <a:t>Dominant species: </a:t>
            </a:r>
            <a:r>
              <a:rPr lang="en-US" b="1" dirty="0"/>
              <a:t>Adelie</a:t>
            </a:r>
            <a:r>
              <a:rPr lang="en-US" dirty="0"/>
              <a:t> </a:t>
            </a:r>
          </a:p>
          <a:p>
            <a:r>
              <a:rPr lang="en-US" dirty="0"/>
              <a:t> This cluster represents </a:t>
            </a:r>
            <a:r>
              <a:rPr lang="en-US" b="1" dirty="0"/>
              <a:t>smaller penguins</a:t>
            </a:r>
            <a:r>
              <a:rPr lang="en-US" dirty="0"/>
              <a:t> with shorter flippers and lower body mass. The higher bill depth is a key distinguishing feature. These traits align with </a:t>
            </a:r>
            <a:r>
              <a:rPr lang="en-US" b="1" dirty="0"/>
              <a:t>Adelie penguins</a:t>
            </a:r>
            <a:r>
              <a:rPr lang="en-US" dirty="0"/>
              <a:t>, which are generally smaller and more compact.</a:t>
            </a:r>
          </a:p>
          <a:p>
            <a:r>
              <a:rPr lang="en-US" b="1" dirty="0"/>
              <a:t>Cluster Separation Quality : </a:t>
            </a:r>
            <a:r>
              <a:rPr lang="en-US" dirty="0"/>
              <a:t>The </a:t>
            </a:r>
            <a:r>
              <a:rPr lang="en-US" b="1" dirty="0"/>
              <a:t>between-cluster variation is 58.5%</a:t>
            </a:r>
            <a:r>
              <a:rPr lang="en-US" dirty="0"/>
              <a:t>, indicating a </a:t>
            </a:r>
            <a:r>
              <a:rPr lang="en-US" b="1" dirty="0"/>
              <a:t>moderate to strong separation</a:t>
            </a:r>
            <a:r>
              <a:rPr lang="en-US" dirty="0"/>
              <a:t> between clusters. </a:t>
            </a:r>
          </a:p>
          <a:p>
            <a:r>
              <a:rPr lang="en-US" dirty="0"/>
              <a:t>Clusters were then visualized  using a scatter plot of the first two scaled variables, colored by cluster assignments.</a:t>
            </a:r>
          </a:p>
          <a:p>
            <a:endParaRPr lang="en-US" dirty="0"/>
          </a:p>
          <a:p>
            <a:endParaRPr lang="en-US" dirty="0"/>
          </a:p>
        </p:txBody>
      </p:sp>
    </p:spTree>
    <p:extLst>
      <p:ext uri="{BB962C8B-B14F-4D97-AF65-F5344CB8AC3E}">
        <p14:creationId xmlns:p14="http://schemas.microsoft.com/office/powerpoint/2010/main" val="75966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B63E-4915-768D-20C6-1017C9132463}"/>
              </a:ext>
            </a:extLst>
          </p:cNvPr>
          <p:cNvSpPr>
            <a:spLocks noGrp="1"/>
          </p:cNvSpPr>
          <p:nvPr>
            <p:ph type="title"/>
          </p:nvPr>
        </p:nvSpPr>
        <p:spPr/>
        <p:txBody>
          <a:bodyPr/>
          <a:lstStyle/>
          <a:p>
            <a:r>
              <a:rPr lang="en-US" dirty="0"/>
              <a:t>Task 6: Principal Component Analysis (PCA)</a:t>
            </a:r>
          </a:p>
        </p:txBody>
      </p:sp>
      <p:sp>
        <p:nvSpPr>
          <p:cNvPr id="3" name="Content Placeholder 2">
            <a:extLst>
              <a:ext uri="{FF2B5EF4-FFF2-40B4-BE49-F238E27FC236}">
                <a16:creationId xmlns:a16="http://schemas.microsoft.com/office/drawing/2014/main" id="{029FAFA2-D555-FE7F-5C5B-87D05F8C386A}"/>
              </a:ext>
            </a:extLst>
          </p:cNvPr>
          <p:cNvSpPr>
            <a:spLocks noGrp="1"/>
          </p:cNvSpPr>
          <p:nvPr>
            <p:ph idx="1"/>
          </p:nvPr>
        </p:nvSpPr>
        <p:spPr/>
        <p:txBody>
          <a:bodyPr>
            <a:normAutofit fontScale="85000" lnSpcReduction="10000"/>
          </a:bodyPr>
          <a:lstStyle/>
          <a:p>
            <a:pPr marL="0" indent="0">
              <a:buNone/>
            </a:pPr>
            <a:r>
              <a:rPr lang="en-US" dirty="0"/>
              <a:t>.PCA analysis were done on the scaled numeric variables using </a:t>
            </a:r>
            <a:r>
              <a:rPr lang="en-US" dirty="0" err="1"/>
              <a:t>prcomp</a:t>
            </a:r>
            <a:r>
              <a:rPr lang="en-US" dirty="0"/>
              <a:t> function and a </a:t>
            </a:r>
            <a:r>
              <a:rPr lang="en-US" dirty="0" err="1"/>
              <a:t>screeplot</a:t>
            </a:r>
            <a:r>
              <a:rPr lang="en-US" dirty="0"/>
              <a:t> was generated to explain proportion of variance.</a:t>
            </a:r>
          </a:p>
          <a:p>
            <a:r>
              <a:rPr lang="en-US" dirty="0"/>
              <a:t>The PCA results show the following proportions of variance explained:</a:t>
            </a:r>
          </a:p>
          <a:p>
            <a:r>
              <a:rPr lang="en-US" b="1" dirty="0"/>
              <a:t>PC1:</a:t>
            </a:r>
            <a:r>
              <a:rPr lang="en-US" dirty="0"/>
              <a:t> 65.68% </a:t>
            </a:r>
          </a:p>
          <a:p>
            <a:r>
              <a:rPr lang="en-US" b="1" dirty="0"/>
              <a:t>PC2:</a:t>
            </a:r>
            <a:r>
              <a:rPr lang="en-US" dirty="0"/>
              <a:t> 19.45% </a:t>
            </a:r>
          </a:p>
          <a:p>
            <a:r>
              <a:rPr lang="en-US" b="1" dirty="0"/>
              <a:t>PC3:</a:t>
            </a:r>
            <a:r>
              <a:rPr lang="en-US" dirty="0"/>
              <a:t> 9.22% </a:t>
            </a:r>
          </a:p>
          <a:p>
            <a:r>
              <a:rPr lang="en-US" b="1" dirty="0"/>
              <a:t>PC4:</a:t>
            </a:r>
            <a:r>
              <a:rPr lang="en-US" dirty="0"/>
              <a:t> 2.66% </a:t>
            </a:r>
          </a:p>
          <a:p>
            <a:r>
              <a:rPr lang="en-US" dirty="0"/>
              <a:t>The scree plot indicates a </a:t>
            </a:r>
            <a:r>
              <a:rPr lang="en-US" b="1" dirty="0"/>
              <a:t>steep drop from PC1 to PC2</a:t>
            </a:r>
            <a:r>
              <a:rPr lang="en-US" dirty="0"/>
              <a:t>, followed by a gradual decline. This suggests that </a:t>
            </a:r>
            <a:r>
              <a:rPr lang="en-US" b="1" dirty="0"/>
              <a:t>PC1 captures the majority of the variation</a:t>
            </a:r>
            <a:r>
              <a:rPr lang="en-US" dirty="0"/>
              <a:t> in the dataset.</a:t>
            </a:r>
          </a:p>
          <a:p>
            <a:r>
              <a:rPr lang="en-US" dirty="0"/>
              <a:t>PC1 + PC2 + PC3 = </a:t>
            </a:r>
            <a:r>
              <a:rPr lang="en-US" b="1" dirty="0"/>
              <a:t>97.30%</a:t>
            </a:r>
            <a:r>
              <a:rPr lang="en-US" dirty="0"/>
              <a:t> ,therefore, </a:t>
            </a:r>
            <a:r>
              <a:rPr lang="en-US" b="1" dirty="0"/>
              <a:t>3 principal components are sufficient to explain over 90% of the total variance</a:t>
            </a:r>
            <a:r>
              <a:rPr lang="en-US" dirty="0"/>
              <a:t>.</a:t>
            </a:r>
          </a:p>
          <a:p>
            <a:r>
              <a:rPr lang="en-US" dirty="0"/>
              <a:t>With three principal components explaining over 97% of the variance, PCA provides an effective dimensionality reduction while retaining most of the information.</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986172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053B-CD11-95E7-9F2E-10151C139086}"/>
              </a:ext>
            </a:extLst>
          </p:cNvPr>
          <p:cNvSpPr>
            <a:spLocks noGrp="1"/>
          </p:cNvSpPr>
          <p:nvPr>
            <p:ph type="title"/>
          </p:nvPr>
        </p:nvSpPr>
        <p:spPr/>
        <p:txBody>
          <a:bodyPr/>
          <a:lstStyle/>
          <a:p>
            <a:r>
              <a:rPr lang="en-US" dirty="0"/>
              <a:t>Interpretations for the loadings of PC1 and PC2</a:t>
            </a:r>
          </a:p>
        </p:txBody>
      </p:sp>
      <p:sp>
        <p:nvSpPr>
          <p:cNvPr id="3" name="Content Placeholder 2">
            <a:extLst>
              <a:ext uri="{FF2B5EF4-FFF2-40B4-BE49-F238E27FC236}">
                <a16:creationId xmlns:a16="http://schemas.microsoft.com/office/drawing/2014/main" id="{0008EF72-3B88-D041-7D15-CDB2E3A96846}"/>
              </a:ext>
            </a:extLst>
          </p:cNvPr>
          <p:cNvSpPr>
            <a:spLocks noGrp="1"/>
          </p:cNvSpPr>
          <p:nvPr>
            <p:ph idx="1"/>
          </p:nvPr>
        </p:nvSpPr>
        <p:spPr/>
        <p:txBody>
          <a:bodyPr>
            <a:normAutofit fontScale="62500" lnSpcReduction="20000"/>
          </a:bodyPr>
          <a:lstStyle/>
          <a:p>
            <a:r>
              <a:rPr lang="en-US" b="1" dirty="0"/>
              <a:t>PC1 </a:t>
            </a:r>
          </a:p>
          <a:p>
            <a:r>
              <a:rPr lang="en-US" dirty="0"/>
              <a:t>Strong positive loadings: </a:t>
            </a:r>
          </a:p>
          <a:p>
            <a:pPr lvl="1"/>
            <a:r>
              <a:rPr lang="en-US" dirty="0" err="1"/>
              <a:t>bill_length_mm</a:t>
            </a:r>
            <a:r>
              <a:rPr lang="en-US" dirty="0"/>
              <a:t> (</a:t>
            </a:r>
            <a:r>
              <a:rPr lang="en-US" b="1" dirty="0"/>
              <a:t>0.528</a:t>
            </a:r>
            <a:r>
              <a:rPr lang="en-US" dirty="0"/>
              <a:t>) </a:t>
            </a:r>
          </a:p>
          <a:p>
            <a:pPr lvl="1"/>
            <a:r>
              <a:rPr lang="en-US" dirty="0" err="1"/>
              <a:t>flipper_length_mm</a:t>
            </a:r>
            <a:r>
              <a:rPr lang="en-US" dirty="0"/>
              <a:t> (</a:t>
            </a:r>
            <a:r>
              <a:rPr lang="en-US" b="1" dirty="0"/>
              <a:t>0.579</a:t>
            </a:r>
            <a:r>
              <a:rPr lang="en-US" dirty="0"/>
              <a:t>) </a:t>
            </a:r>
          </a:p>
          <a:p>
            <a:pPr lvl="1"/>
            <a:r>
              <a:rPr lang="en-US" dirty="0" err="1"/>
              <a:t>body_mass_g</a:t>
            </a:r>
            <a:r>
              <a:rPr lang="en-US" dirty="0"/>
              <a:t> (</a:t>
            </a:r>
            <a:r>
              <a:rPr lang="en-US" b="1" dirty="0"/>
              <a:t>0.550</a:t>
            </a:r>
            <a:r>
              <a:rPr lang="en-US" dirty="0"/>
              <a:t>) </a:t>
            </a:r>
          </a:p>
          <a:p>
            <a:r>
              <a:rPr lang="en-US" dirty="0"/>
              <a:t>Strong negative loading: </a:t>
            </a:r>
          </a:p>
          <a:p>
            <a:pPr lvl="1"/>
            <a:r>
              <a:rPr lang="en-US" dirty="0" err="1"/>
              <a:t>bill_depth_mm</a:t>
            </a:r>
            <a:r>
              <a:rPr lang="en-US" dirty="0"/>
              <a:t> (</a:t>
            </a:r>
            <a:r>
              <a:rPr lang="en-US" b="1" dirty="0"/>
              <a:t>-0.283</a:t>
            </a:r>
            <a:r>
              <a:rPr lang="en-US" dirty="0"/>
              <a:t>) </a:t>
            </a:r>
          </a:p>
          <a:p>
            <a:pPr marL="0" indent="0">
              <a:buNone/>
            </a:pPr>
            <a:r>
              <a:rPr lang="en-US" dirty="0"/>
              <a:t> </a:t>
            </a:r>
            <a:r>
              <a:rPr lang="en-US" b="1" dirty="0"/>
              <a:t>Interpretation:</a:t>
            </a:r>
          </a:p>
          <a:p>
            <a:pPr marL="0" indent="0">
              <a:buNone/>
            </a:pPr>
            <a:r>
              <a:rPr lang="en-US" dirty="0"/>
              <a:t>PC1 represents overall body size.</a:t>
            </a:r>
            <a:br>
              <a:rPr lang="en-US" dirty="0"/>
            </a:br>
            <a:r>
              <a:rPr lang="en-US" dirty="0"/>
              <a:t>Higher PC1 values correspond to penguins that are: </a:t>
            </a:r>
          </a:p>
          <a:p>
            <a:pPr lvl="1"/>
            <a:r>
              <a:rPr lang="en-US" dirty="0"/>
              <a:t>Larger in body mass </a:t>
            </a:r>
          </a:p>
          <a:p>
            <a:pPr lvl="1"/>
            <a:r>
              <a:rPr lang="en-US" dirty="0"/>
              <a:t>Have longer flippers </a:t>
            </a:r>
          </a:p>
          <a:p>
            <a:pPr lvl="1"/>
            <a:r>
              <a:rPr lang="en-US" dirty="0"/>
              <a:t>Have longer bills </a:t>
            </a:r>
          </a:p>
          <a:p>
            <a:r>
              <a:rPr lang="en-US" dirty="0"/>
              <a:t>The negative loading of bill depth indicates that larger penguins tend to have </a:t>
            </a:r>
            <a:r>
              <a:rPr lang="en-US" b="1" dirty="0"/>
              <a:t>shallower bills</a:t>
            </a:r>
            <a:r>
              <a:rPr lang="en-US" dirty="0"/>
              <a:t> </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310451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A65C-2646-AEEB-776B-84C65CFB2970}"/>
              </a:ext>
            </a:extLst>
          </p:cNvPr>
          <p:cNvSpPr>
            <a:spLocks noGrp="1"/>
          </p:cNvSpPr>
          <p:nvPr>
            <p:ph type="title"/>
          </p:nvPr>
        </p:nvSpPr>
        <p:spPr/>
        <p:txBody>
          <a:bodyPr/>
          <a:lstStyle/>
          <a:p>
            <a:r>
              <a:rPr lang="en-US" dirty="0"/>
              <a:t>PC2 Loadings</a:t>
            </a:r>
          </a:p>
        </p:txBody>
      </p:sp>
      <p:sp>
        <p:nvSpPr>
          <p:cNvPr id="3" name="Content Placeholder 2">
            <a:extLst>
              <a:ext uri="{FF2B5EF4-FFF2-40B4-BE49-F238E27FC236}">
                <a16:creationId xmlns:a16="http://schemas.microsoft.com/office/drawing/2014/main" id="{8989A2EC-9158-7B21-D55A-DE3DA903E9AB}"/>
              </a:ext>
            </a:extLst>
          </p:cNvPr>
          <p:cNvSpPr>
            <a:spLocks noGrp="1"/>
          </p:cNvSpPr>
          <p:nvPr>
            <p:ph idx="1"/>
          </p:nvPr>
        </p:nvSpPr>
        <p:spPr/>
        <p:txBody>
          <a:bodyPr>
            <a:normAutofit fontScale="92500" lnSpcReduction="20000"/>
          </a:bodyPr>
          <a:lstStyle/>
          <a:p>
            <a:r>
              <a:rPr lang="en-US" b="1" dirty="0"/>
              <a:t>PC2 </a:t>
            </a:r>
          </a:p>
          <a:p>
            <a:r>
              <a:rPr lang="en-US" dirty="0"/>
              <a:t>Strong positive loading: </a:t>
            </a:r>
          </a:p>
          <a:p>
            <a:pPr lvl="1"/>
            <a:r>
              <a:rPr lang="en-US" dirty="0" err="1"/>
              <a:t>bill_depth_mm</a:t>
            </a:r>
            <a:r>
              <a:rPr lang="en-US" dirty="0"/>
              <a:t> (</a:t>
            </a:r>
            <a:r>
              <a:rPr lang="en-US" b="1" dirty="0"/>
              <a:t>0.790</a:t>
            </a:r>
            <a:r>
              <a:rPr lang="en-US" dirty="0"/>
              <a:t>) </a:t>
            </a:r>
          </a:p>
          <a:p>
            <a:r>
              <a:rPr lang="en-US" dirty="0"/>
              <a:t>Negative loadings: </a:t>
            </a:r>
          </a:p>
          <a:p>
            <a:pPr lvl="1"/>
            <a:r>
              <a:rPr lang="en-US" dirty="0" err="1"/>
              <a:t>bill_length_mm</a:t>
            </a:r>
            <a:r>
              <a:rPr lang="en-US" dirty="0"/>
              <a:t> (-0.069) </a:t>
            </a:r>
          </a:p>
          <a:p>
            <a:pPr lvl="1"/>
            <a:r>
              <a:rPr lang="en-US" dirty="0" err="1"/>
              <a:t>flipper_length_mm</a:t>
            </a:r>
            <a:r>
              <a:rPr lang="en-US" dirty="0"/>
              <a:t> (-0.006) </a:t>
            </a:r>
          </a:p>
          <a:p>
            <a:pPr lvl="1"/>
            <a:r>
              <a:rPr lang="en-US" dirty="0" err="1"/>
              <a:t>body_mass_g</a:t>
            </a:r>
            <a:r>
              <a:rPr lang="en-US" dirty="0"/>
              <a:t> (-0.076) </a:t>
            </a:r>
          </a:p>
          <a:p>
            <a:r>
              <a:rPr lang="en-US" dirty="0"/>
              <a:t> </a:t>
            </a:r>
            <a:r>
              <a:rPr lang="en-US" b="1" dirty="0"/>
              <a:t>Interpretation:</a:t>
            </a:r>
          </a:p>
          <a:p>
            <a:r>
              <a:rPr lang="en-US" dirty="0"/>
              <a:t>PC2 primarily represents </a:t>
            </a:r>
            <a:r>
              <a:rPr lang="en-US" b="1" dirty="0"/>
              <a:t>bill shape variation</a:t>
            </a:r>
            <a:r>
              <a:rPr lang="en-US" dirty="0"/>
              <a:t>, especially </a:t>
            </a:r>
            <a:r>
              <a:rPr lang="en-US" b="1" dirty="0"/>
              <a:t>bill depth</a:t>
            </a:r>
            <a:r>
              <a:rPr lang="en-US" dirty="0"/>
              <a:t>.</a:t>
            </a:r>
            <a:br>
              <a:rPr lang="en-US" dirty="0"/>
            </a:br>
            <a:r>
              <a:rPr lang="en-US" dirty="0"/>
              <a:t>Higher PC2 values indicate penguins with </a:t>
            </a:r>
            <a:r>
              <a:rPr lang="en-US" b="1" dirty="0"/>
              <a:t>deeper bills</a:t>
            </a:r>
            <a:r>
              <a:rPr lang="en-US" dirty="0"/>
              <a:t> </a:t>
            </a:r>
          </a:p>
          <a:p>
            <a:r>
              <a:rPr lang="en-US" dirty="0"/>
              <a:t>This component helps distinguish penguins based on </a:t>
            </a:r>
            <a:r>
              <a:rPr lang="en-US" b="1" dirty="0"/>
              <a:t>beak structure rather than size.</a:t>
            </a:r>
          </a:p>
          <a:p>
            <a:endParaRPr lang="en-US" dirty="0"/>
          </a:p>
          <a:p>
            <a:endParaRPr lang="en-US" dirty="0"/>
          </a:p>
        </p:txBody>
      </p:sp>
    </p:spTree>
    <p:extLst>
      <p:ext uri="{BB962C8B-B14F-4D97-AF65-F5344CB8AC3E}">
        <p14:creationId xmlns:p14="http://schemas.microsoft.com/office/powerpoint/2010/main" val="333445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A69BE-B4C1-0969-BC72-CE1A032DBDF8}"/>
              </a:ext>
            </a:extLst>
          </p:cNvPr>
          <p:cNvSpPr>
            <a:spLocks noGrp="1"/>
          </p:cNvSpPr>
          <p:nvPr>
            <p:ph type="title"/>
          </p:nvPr>
        </p:nvSpPr>
        <p:spPr/>
        <p:txBody>
          <a:bodyPr/>
          <a:lstStyle/>
          <a:p>
            <a:r>
              <a:rPr lang="en-US" dirty="0"/>
              <a:t>Task 7: Combining K-Means and PCA</a:t>
            </a:r>
          </a:p>
        </p:txBody>
      </p:sp>
      <p:sp>
        <p:nvSpPr>
          <p:cNvPr id="3" name="Content Placeholder 2">
            <a:extLst>
              <a:ext uri="{FF2B5EF4-FFF2-40B4-BE49-F238E27FC236}">
                <a16:creationId xmlns:a16="http://schemas.microsoft.com/office/drawing/2014/main" id="{BA76A071-C0A6-78CF-ADDD-91A3D6A3C7F2}"/>
              </a:ext>
            </a:extLst>
          </p:cNvPr>
          <p:cNvSpPr>
            <a:spLocks noGrp="1"/>
          </p:cNvSpPr>
          <p:nvPr>
            <p:ph idx="1"/>
          </p:nvPr>
        </p:nvSpPr>
        <p:spPr/>
        <p:txBody>
          <a:bodyPr>
            <a:normAutofit fontScale="92500" lnSpcReduction="20000"/>
          </a:bodyPr>
          <a:lstStyle/>
          <a:p>
            <a:r>
              <a:rPr lang="en-US" dirty="0"/>
              <a:t>Scaled data was projected onto the first two principal components and K-means rerun on the first two PCs.</a:t>
            </a:r>
          </a:p>
          <a:p>
            <a:r>
              <a:rPr lang="en-US" dirty="0"/>
              <a:t>Comparison of cluster assignments from PCA-reduced data vs. original 4-dimensional data (use a confusion matrix)was done.</a:t>
            </a:r>
          </a:p>
          <a:p>
            <a:r>
              <a:rPr lang="en-US" dirty="0"/>
              <a:t> Scatter plots of PC1 vs. PC2, colored by:  K-Means cluster assignment (from full data) • Original species (for validation reference only) were generated. </a:t>
            </a:r>
          </a:p>
          <a:p>
            <a:r>
              <a:rPr lang="en-US" dirty="0"/>
              <a:t>The confusion matrix shows perfect agreement between cluster assignments from the full data and the PCA-reduced data, indicating no loss of clustering information.</a:t>
            </a:r>
          </a:p>
          <a:p>
            <a:r>
              <a:rPr lang="en-US" dirty="0"/>
              <a:t>Visualization in the PC1–PC2 space confirms clear separation between clusters, primarily along the first principal component, which represents body size. The results also show that clustering is driven mainly by size-related features, grouping larger Gentoo penguins separately from the smaller Adelie and Chinstrap penguins. </a:t>
            </a:r>
          </a:p>
          <a:p>
            <a:r>
              <a:rPr lang="en-US" dirty="0"/>
              <a:t>This demonstrates that PCA is highly effective in reducing dimensionality while maintaining meaningful group structure.</a:t>
            </a:r>
          </a:p>
          <a:p>
            <a:endParaRPr lang="en-US" dirty="0"/>
          </a:p>
        </p:txBody>
      </p:sp>
    </p:spTree>
    <p:extLst>
      <p:ext uri="{BB962C8B-B14F-4D97-AF65-F5344CB8AC3E}">
        <p14:creationId xmlns:p14="http://schemas.microsoft.com/office/powerpoint/2010/main" val="1563048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DC8D-8ACC-4D26-455D-BC1E21570380}"/>
              </a:ext>
            </a:extLst>
          </p:cNvPr>
          <p:cNvSpPr>
            <a:spLocks noGrp="1"/>
          </p:cNvSpPr>
          <p:nvPr>
            <p:ph type="title"/>
          </p:nvPr>
        </p:nvSpPr>
        <p:spPr/>
        <p:txBody>
          <a:bodyPr/>
          <a:lstStyle/>
          <a:p>
            <a:r>
              <a:rPr lang="en-US" dirty="0"/>
              <a:t>Task 8: Cluster Validation and Quality Assessment </a:t>
            </a:r>
          </a:p>
        </p:txBody>
      </p:sp>
      <p:sp>
        <p:nvSpPr>
          <p:cNvPr id="3" name="Content Placeholder 2">
            <a:extLst>
              <a:ext uri="{FF2B5EF4-FFF2-40B4-BE49-F238E27FC236}">
                <a16:creationId xmlns:a16="http://schemas.microsoft.com/office/drawing/2014/main" id="{4647C515-57BD-96EB-EE6B-EBB30995FCB1}"/>
              </a:ext>
            </a:extLst>
          </p:cNvPr>
          <p:cNvSpPr>
            <a:spLocks noGrp="1"/>
          </p:cNvSpPr>
          <p:nvPr>
            <p:ph idx="1"/>
          </p:nvPr>
        </p:nvSpPr>
        <p:spPr/>
        <p:txBody>
          <a:bodyPr>
            <a:normAutofit lnSpcReduction="10000"/>
          </a:bodyPr>
          <a:lstStyle/>
          <a:p>
            <a:r>
              <a:rPr lang="en-US" dirty="0"/>
              <a:t>The following internal validation metrics were done for  K-Means solution: • Average silhouette width • Dunn index (using cluster::</a:t>
            </a:r>
            <a:r>
              <a:rPr lang="en-US" dirty="0" err="1"/>
              <a:t>dunn</a:t>
            </a:r>
            <a:r>
              <a:rPr lang="en-US" dirty="0"/>
              <a:t>()) • </a:t>
            </a:r>
            <a:r>
              <a:rPr lang="en-US" dirty="0" err="1"/>
              <a:t>Calinski-Harabasz</a:t>
            </a:r>
            <a:r>
              <a:rPr lang="en-US" dirty="0"/>
              <a:t> index (using </a:t>
            </a:r>
            <a:r>
              <a:rPr lang="en-US" dirty="0" err="1"/>
              <a:t>factoextra</a:t>
            </a:r>
            <a:r>
              <a:rPr lang="en-US" dirty="0"/>
              <a:t>::</a:t>
            </a:r>
            <a:r>
              <a:rPr lang="en-US" dirty="0" err="1"/>
              <a:t>fviznbclust</a:t>
            </a:r>
            <a:r>
              <a:rPr lang="en-US" dirty="0"/>
              <a:t>())</a:t>
            </a:r>
          </a:p>
          <a:p>
            <a:r>
              <a:rPr lang="en-US" dirty="0"/>
              <a:t>Silhouette width – 0.53 -  </a:t>
            </a:r>
            <a:r>
              <a:rPr lang="en-US" b="1" dirty="0"/>
              <a:t>well-separated and compact clusters.</a:t>
            </a:r>
          </a:p>
          <a:p>
            <a:r>
              <a:rPr lang="en-US" dirty="0"/>
              <a:t>Dunn Index – 0.2729 – There is likely overlap between clusters, </a:t>
            </a:r>
            <a:r>
              <a:rPr lang="en-US" altLang="en-US" dirty="0">
                <a:latin typeface="Arial" panose="020B0604020202020204" pitchFamily="34" charset="0"/>
              </a:rPr>
              <a:t>Some clusters may be </a:t>
            </a:r>
            <a:r>
              <a:rPr lang="en-US" altLang="en-US" b="1" dirty="0">
                <a:latin typeface="Arial" panose="020B0604020202020204" pitchFamily="34" charset="0"/>
              </a:rPr>
              <a:t>loose or poorly defined.</a:t>
            </a:r>
            <a:r>
              <a:rPr lang="en-US" altLang="en-US" dirty="0">
                <a:latin typeface="Arial" panose="020B0604020202020204" pitchFamily="34" charset="0"/>
              </a:rPr>
              <a:t> </a:t>
            </a:r>
          </a:p>
          <a:p>
            <a:r>
              <a:rPr lang="en-US" altLang="en-US" dirty="0">
                <a:latin typeface="Arial" panose="020B0604020202020204" pitchFamily="34" charset="0"/>
              </a:rPr>
              <a:t>CH index for K =2 – 466.7476 - </a:t>
            </a:r>
            <a:r>
              <a:rPr lang="en-US" dirty="0"/>
              <a:t>The </a:t>
            </a:r>
            <a:r>
              <a:rPr lang="en-US" dirty="0" err="1"/>
              <a:t>Calinski-Harabasz</a:t>
            </a:r>
            <a:r>
              <a:rPr lang="en-US" dirty="0"/>
              <a:t> index was computed using the </a:t>
            </a:r>
            <a:r>
              <a:rPr lang="en-US" dirty="0" err="1"/>
              <a:t>clusterSim</a:t>
            </a:r>
            <a:r>
              <a:rPr lang="en-US" dirty="0"/>
              <a:t> package, as it is not directly supported in </a:t>
            </a:r>
            <a:r>
              <a:rPr lang="en-US" dirty="0" err="1"/>
              <a:t>fviz_nbclust</a:t>
            </a:r>
            <a:r>
              <a:rPr lang="en-US" dirty="0"/>
              <a:t>(). The results showed that k = 2 produced the highest CH value, confirming it as the optimal number of clusters.</a:t>
            </a:r>
          </a:p>
          <a:p>
            <a:r>
              <a:rPr lang="en-US" altLang="en-US" dirty="0">
                <a:latin typeface="Arial" panose="020B0604020202020204" pitchFamily="34" charset="0"/>
              </a:rPr>
              <a:t>Limitation : </a:t>
            </a:r>
            <a:r>
              <a:rPr lang="en-US" dirty="0"/>
              <a:t>Metrics favor </a:t>
            </a:r>
            <a:r>
              <a:rPr lang="en-US" b="1" dirty="0"/>
              <a:t>k = 2</a:t>
            </a:r>
            <a:r>
              <a:rPr lang="en-US" dirty="0"/>
              <a:t>, but biologically there are </a:t>
            </a:r>
            <a:r>
              <a:rPr lang="en-US" b="1" dirty="0"/>
              <a:t>3 penguin species ; </a:t>
            </a:r>
            <a:r>
              <a:rPr lang="en-US" dirty="0"/>
              <a:t>This shows a limitation of relying purely on internal validation. </a:t>
            </a:r>
          </a:p>
          <a:p>
            <a:endParaRPr lang="en-US" altLang="en-US" dirty="0">
              <a:latin typeface="Arial" panose="020B0604020202020204" pitchFamily="34" charset="0"/>
            </a:endParaRPr>
          </a:p>
          <a:p>
            <a:endParaRPr lang="en-US" dirty="0"/>
          </a:p>
        </p:txBody>
      </p:sp>
      <p:sp>
        <p:nvSpPr>
          <p:cNvPr id="4" name="Rectangle 1">
            <a:extLst>
              <a:ext uri="{FF2B5EF4-FFF2-40B4-BE49-F238E27FC236}">
                <a16:creationId xmlns:a16="http://schemas.microsoft.com/office/drawing/2014/main" id="{D0CCC818-5AE2-261D-5546-7A508CF0ECF8}"/>
              </a:ext>
            </a:extLst>
          </p:cNvPr>
          <p:cNvSpPr>
            <a:spLocks noChangeArrowheads="1"/>
          </p:cNvSpPr>
          <p:nvPr/>
        </p:nvSpPr>
        <p:spPr bwMode="auto">
          <a:xfrm>
            <a:off x="0" y="-32316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endParaRPr lang="en-US" altLang="en-US" dirty="0">
              <a:latin typeface="Arial" panose="020B0604020202020204" pitchFamily="34" charset="0"/>
            </a:endParaRPr>
          </a:p>
        </p:txBody>
      </p:sp>
    </p:spTree>
    <p:extLst>
      <p:ext uri="{BB962C8B-B14F-4D97-AF65-F5344CB8AC3E}">
        <p14:creationId xmlns:p14="http://schemas.microsoft.com/office/powerpoint/2010/main" val="2704008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315E8-0164-5C34-12A2-925AFC1499DC}"/>
              </a:ext>
            </a:extLst>
          </p:cNvPr>
          <p:cNvSpPr>
            <a:spLocks noGrp="1"/>
          </p:cNvSpPr>
          <p:nvPr>
            <p:ph type="title"/>
          </p:nvPr>
        </p:nvSpPr>
        <p:spPr/>
        <p:txBody>
          <a:bodyPr/>
          <a:lstStyle/>
          <a:p>
            <a:r>
              <a:rPr lang="en-US" dirty="0"/>
              <a:t>Task 9: Interpretation and Biological Insights</a:t>
            </a:r>
          </a:p>
        </p:txBody>
      </p:sp>
      <p:sp>
        <p:nvSpPr>
          <p:cNvPr id="3" name="Content Placeholder 2">
            <a:extLst>
              <a:ext uri="{FF2B5EF4-FFF2-40B4-BE49-F238E27FC236}">
                <a16:creationId xmlns:a16="http://schemas.microsoft.com/office/drawing/2014/main" id="{B9F2BEA6-C5FC-7B1F-B1EB-FDC45924B7FA}"/>
              </a:ext>
            </a:extLst>
          </p:cNvPr>
          <p:cNvSpPr>
            <a:spLocks noGrp="1"/>
          </p:cNvSpPr>
          <p:nvPr>
            <p:ph idx="1"/>
          </p:nvPr>
        </p:nvSpPr>
        <p:spPr/>
        <p:txBody>
          <a:bodyPr>
            <a:normAutofit fontScale="85000" lnSpcReduction="10000"/>
          </a:bodyPr>
          <a:lstStyle/>
          <a:p>
            <a:r>
              <a:rPr lang="en-US" dirty="0"/>
              <a:t>A contingency table for cluster vs species was created.</a:t>
            </a:r>
          </a:p>
          <a:p>
            <a:r>
              <a:rPr lang="en-US" b="1" dirty="0"/>
              <a:t>Cluster 1 -</a:t>
            </a:r>
            <a:r>
              <a:rPr lang="en-US" dirty="0"/>
              <a:t>Contains </a:t>
            </a:r>
            <a:r>
              <a:rPr lang="en-US" b="1" dirty="0"/>
              <a:t>119 Gentoo penguins</a:t>
            </a:r>
            <a:r>
              <a:rPr lang="en-US" dirty="0"/>
              <a:t> ,Contains </a:t>
            </a:r>
            <a:r>
              <a:rPr lang="en-US" b="1" dirty="0"/>
              <a:t>0 Adelie and 0 Chinstrap penguins</a:t>
            </a:r>
            <a:r>
              <a:rPr lang="en-US" dirty="0"/>
              <a:t> .</a:t>
            </a:r>
          </a:p>
          <a:p>
            <a:r>
              <a:rPr lang="en-US" dirty="0"/>
              <a:t> This means </a:t>
            </a:r>
            <a:r>
              <a:rPr lang="en-US" b="1" dirty="0"/>
              <a:t>Cluster 1 perfectly captures the Gentoo </a:t>
            </a:r>
            <a:r>
              <a:rPr lang="en-US" b="1" dirty="0" err="1"/>
              <a:t>species;</a:t>
            </a:r>
            <a:r>
              <a:rPr lang="en-US" dirty="0" err="1"/>
              <a:t>There</a:t>
            </a:r>
            <a:r>
              <a:rPr lang="en-US" dirty="0"/>
              <a:t> is a </a:t>
            </a:r>
            <a:r>
              <a:rPr lang="en-US" b="1" dirty="0"/>
              <a:t>clear and clean separation</a:t>
            </a:r>
            <a:r>
              <a:rPr lang="en-US" dirty="0"/>
              <a:t> of Gentoo from the other species in the feature space used for clustering.</a:t>
            </a:r>
          </a:p>
          <a:p>
            <a:r>
              <a:rPr lang="en-US" b="1" dirty="0"/>
              <a:t>Cluster 2-</a:t>
            </a:r>
            <a:r>
              <a:rPr lang="en-US" dirty="0"/>
              <a:t>Contains </a:t>
            </a:r>
            <a:r>
              <a:rPr lang="en-US" b="1" dirty="0"/>
              <a:t>146 Adelie penguins</a:t>
            </a:r>
            <a:r>
              <a:rPr lang="en-US" dirty="0"/>
              <a:t> , </a:t>
            </a:r>
            <a:r>
              <a:rPr lang="en-US" b="1" dirty="0"/>
              <a:t>68 Chinstrap penguins</a:t>
            </a:r>
            <a:r>
              <a:rPr lang="en-US" dirty="0"/>
              <a:t> , </a:t>
            </a:r>
            <a:r>
              <a:rPr lang="en-US" b="1" dirty="0"/>
              <a:t>0 Gentoo penguins</a:t>
            </a:r>
            <a:r>
              <a:rPr lang="en-US" dirty="0"/>
              <a:t> </a:t>
            </a:r>
          </a:p>
          <a:p>
            <a:r>
              <a:rPr lang="en-US" dirty="0"/>
              <a:t> This cluster is a </a:t>
            </a:r>
            <a:r>
              <a:rPr lang="en-US" b="1" dirty="0"/>
              <a:t>mixture of Adelie and Chinstrap species</a:t>
            </a:r>
            <a:r>
              <a:rPr lang="en-US" dirty="0"/>
              <a:t>, meaning:</a:t>
            </a:r>
          </a:p>
          <a:p>
            <a:r>
              <a:rPr lang="en-US" dirty="0"/>
              <a:t>These two species are </a:t>
            </a:r>
            <a:r>
              <a:rPr lang="en-US" b="1" dirty="0"/>
              <a:t>not well separated by the variables used</a:t>
            </a:r>
            <a:r>
              <a:rPr lang="en-US" dirty="0"/>
              <a:t> </a:t>
            </a:r>
          </a:p>
          <a:p>
            <a:r>
              <a:rPr lang="en-US" dirty="0"/>
              <a:t>K-Means grouped them together because their characteristics are </a:t>
            </a:r>
            <a:r>
              <a:rPr lang="en-US" b="1" dirty="0"/>
              <a:t>similar or overlapping</a:t>
            </a:r>
          </a:p>
          <a:p>
            <a:r>
              <a:rPr lang="en-US" dirty="0"/>
              <a:t>Biological Insight : </a:t>
            </a:r>
            <a:r>
              <a:rPr lang="en-US" b="1" dirty="0"/>
              <a:t>Gentoo penguins are distinctly different</a:t>
            </a:r>
            <a:r>
              <a:rPr lang="en-US" dirty="0"/>
              <a:t> from the other two species and are easily separated by the model,</a:t>
            </a:r>
            <a:r>
              <a:rPr lang="en-US" b="1" dirty="0"/>
              <a:t> Adelie and Chinstrap penguins are more similar biologically</a:t>
            </a:r>
            <a:r>
              <a:rPr lang="en-US" dirty="0"/>
              <a:t>, making them harder to distinguish using the selected features.</a:t>
            </a:r>
          </a:p>
          <a:p>
            <a:endParaRPr lang="en-US" dirty="0"/>
          </a:p>
        </p:txBody>
      </p:sp>
    </p:spTree>
    <p:extLst>
      <p:ext uri="{BB962C8B-B14F-4D97-AF65-F5344CB8AC3E}">
        <p14:creationId xmlns:p14="http://schemas.microsoft.com/office/powerpoint/2010/main" val="37416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66C3-45ED-D4C2-E93A-89ADFF50F295}"/>
              </a:ext>
            </a:extLst>
          </p:cNvPr>
          <p:cNvSpPr>
            <a:spLocks noGrp="1"/>
          </p:cNvSpPr>
          <p:nvPr>
            <p:ph type="title"/>
          </p:nvPr>
        </p:nvSpPr>
        <p:spPr/>
        <p:txBody>
          <a:bodyPr/>
          <a:lstStyle/>
          <a:p>
            <a:r>
              <a:rPr lang="en-US" dirty="0"/>
              <a:t>Task 10 : Report Synthesis and Recommendation</a:t>
            </a:r>
          </a:p>
        </p:txBody>
      </p:sp>
      <p:sp>
        <p:nvSpPr>
          <p:cNvPr id="3" name="Content Placeholder 2">
            <a:extLst>
              <a:ext uri="{FF2B5EF4-FFF2-40B4-BE49-F238E27FC236}">
                <a16:creationId xmlns:a16="http://schemas.microsoft.com/office/drawing/2014/main" id="{4D15F17D-559D-6EB4-2DA3-4D5DF21E9F70}"/>
              </a:ext>
            </a:extLst>
          </p:cNvPr>
          <p:cNvSpPr>
            <a:spLocks noGrp="1"/>
          </p:cNvSpPr>
          <p:nvPr>
            <p:ph idx="1"/>
          </p:nvPr>
        </p:nvSpPr>
        <p:spPr/>
        <p:txBody>
          <a:bodyPr>
            <a:normAutofit/>
          </a:bodyPr>
          <a:lstStyle/>
          <a:p>
            <a:r>
              <a:rPr lang="en-US" dirty="0"/>
              <a:t>Clustering in the original feature space preserves all information and is preferable when detailed biological interpretation is required, while PCA-based clustering offers a simplified and efficient representation of the data, especially when variables are highly correlated.</a:t>
            </a:r>
          </a:p>
          <a:p>
            <a:r>
              <a:rPr lang="en-US" dirty="0" err="1"/>
              <a:t>Reccomendations</a:t>
            </a:r>
            <a:r>
              <a:rPr lang="en-US" dirty="0"/>
              <a:t> for wildlife studies, these unsupervised methods provide valuable tools for identifying natural groupings and guiding data-driven classification in the absence of labeled data.</a:t>
            </a:r>
          </a:p>
          <a:p>
            <a:r>
              <a:rPr lang="en-US" dirty="0"/>
              <a:t>Limitations : However, both K-Means and PCA rely on assumptions such as linearity and cluster shape, and violations of these assumptions may lead to oversimplified or inaccurate groupings. Therefore, results should always be interpreted alongside domain knowledge.</a:t>
            </a:r>
          </a:p>
          <a:p>
            <a:endParaRPr lang="en-US" dirty="0"/>
          </a:p>
        </p:txBody>
      </p:sp>
    </p:spTree>
    <p:extLst>
      <p:ext uri="{BB962C8B-B14F-4D97-AF65-F5344CB8AC3E}">
        <p14:creationId xmlns:p14="http://schemas.microsoft.com/office/powerpoint/2010/main" val="22177945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331</TotalTime>
  <Words>1785</Words>
  <Application>Microsoft Office PowerPoint</Application>
  <PresentationFormat>Widescreen</PresentationFormat>
  <Paragraphs>114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ML Assignment 4 Unsupervised Learning : K-means Clustering and PCA</vt:lpstr>
      <vt:lpstr>Assignment Overview</vt:lpstr>
      <vt:lpstr>Data Import and Exploration</vt:lpstr>
      <vt:lpstr>Task 2 : Data Preprocessing</vt:lpstr>
      <vt:lpstr>Task 3 : Exploratory Data Visualization</vt:lpstr>
      <vt:lpstr>Task 4: K-Means: Finding Optimal K </vt:lpstr>
      <vt:lpstr>Task 5: K-Means: Model Fitting and Cluster Profiling </vt:lpstr>
      <vt:lpstr>Cluster 2</vt:lpstr>
      <vt:lpstr>Task 6: Principal Component Analysis (PCA)</vt:lpstr>
      <vt:lpstr>Interpretations for the loadings of PC1 and PC2</vt:lpstr>
      <vt:lpstr>PC2 Loadings</vt:lpstr>
      <vt:lpstr>Task 7: Combining K-Means and PCA</vt:lpstr>
      <vt:lpstr>Task 8: Cluster Validation and Quality Assessment </vt:lpstr>
      <vt:lpstr>Task 9: Interpretation and Biological Insights</vt:lpstr>
      <vt:lpstr>Task 10 : Report Synthesis and 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shear</dc:creator>
  <cp:lastModifiedBy>user</cp:lastModifiedBy>
  <cp:revision>9</cp:revision>
  <dcterms:created xsi:type="dcterms:W3CDTF">2026-04-17T07:49:50Z</dcterms:created>
  <dcterms:modified xsi:type="dcterms:W3CDTF">2026-04-20T05:45:08Z</dcterms:modified>
</cp:coreProperties>
</file>